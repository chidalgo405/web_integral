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d50d72d7c84e33" /><Relationship Type="http://schemas.openxmlformats.org/officeDocument/2006/relationships/extended-properties" Target="/docProps/app.xml" Id="R2cdbacde1e0842ee" /><Relationship Type="http://schemas.openxmlformats.org/officeDocument/2006/relationships/officeDocument" Target="/ppt/presentation.xml" Id="R10bd167f13354f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d78e217def4fbe"/>
  </p:sldMasterIdLst>
  <p:notesMasterIdLst>
    <p:notesMasterId xmlns:r="http://schemas.openxmlformats.org/officeDocument/2006/relationships" r:id="Rbc90d54818894417"/>
  </p:notesMasterIdLst>
  <p:sldIdLst>
    <p:sldId xmlns:r="http://schemas.openxmlformats.org/officeDocument/2006/relationships" id="256" r:id="R2c5cb814702b4b84"/>
    <p:sldId xmlns:r="http://schemas.openxmlformats.org/officeDocument/2006/relationships" id="257" r:id="R2241fccbb7eb414f"/>
    <p:sldId xmlns:r="http://schemas.openxmlformats.org/officeDocument/2006/relationships" id="258" r:id="R9456184a5ce246d3"/>
    <p:sldId xmlns:r="http://schemas.openxmlformats.org/officeDocument/2006/relationships" id="259" r:id="R0dd4459acc8b4208"/>
    <p:sldId xmlns:r="http://schemas.openxmlformats.org/officeDocument/2006/relationships" id="260" r:id="R58d44d3bad914665"/>
    <p:sldId xmlns:r="http://schemas.openxmlformats.org/officeDocument/2006/relationships" id="261" r:id="Rfa2ad17e26c947fd"/>
    <p:sldId xmlns:r="http://schemas.openxmlformats.org/officeDocument/2006/relationships" id="262" r:id="Rbed3656003314946"/>
    <p:sldId xmlns:r="http://schemas.openxmlformats.org/officeDocument/2006/relationships" id="263" r:id="R979e6898e44d4946"/>
    <p:sldId xmlns:r="http://schemas.openxmlformats.org/officeDocument/2006/relationships" id="264" r:id="R745b48f4eb974f4a"/>
    <p:sldId xmlns:r="http://schemas.openxmlformats.org/officeDocument/2006/relationships" id="265" r:id="Rb50990be5e144c5e"/>
    <p:sldId xmlns:r="http://schemas.openxmlformats.org/officeDocument/2006/relationships" id="266" r:id="R2e0b5ff6d8ae41bd"/>
    <p:sldId xmlns:r="http://schemas.openxmlformats.org/officeDocument/2006/relationships" id="267" r:id="R883e92f60c204b60"/>
    <p:sldId xmlns:r="http://schemas.openxmlformats.org/officeDocument/2006/relationships" id="268" r:id="Rd50551e021204ccb"/>
    <p:sldId xmlns:r="http://schemas.openxmlformats.org/officeDocument/2006/relationships" id="269" r:id="Rb3238e66f5bb4e04"/>
    <p:sldId xmlns:r="http://schemas.openxmlformats.org/officeDocument/2006/relationships" id="270" r:id="R78b310f47bb14f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dc954e56bc4e41" /><Relationship Type="http://schemas.openxmlformats.org/officeDocument/2006/relationships/slideMaster" Target="/ppt/slideMasters/slideMaster1.xml" Id="Rc8d78e217def4fbe" /><Relationship Type="http://schemas.openxmlformats.org/officeDocument/2006/relationships/notesMaster" Target="/ppt/notesMasters/notesMaster1.xml" Id="Rbc90d54818894417" /><Relationship Type="http://schemas.openxmlformats.org/officeDocument/2006/relationships/presProps" Target="/ppt/presProps.xml" Id="R4fefcf39c85c4eca" /><Relationship Type="http://schemas.openxmlformats.org/officeDocument/2006/relationships/tableStyles" Target="/ppt/tableStyles.xml" Id="R3dcac2e845f84f08" /><Relationship Type="http://schemas.openxmlformats.org/officeDocument/2006/relationships/slide" Target="/ppt/slides/slide1.xml" Id="R2c5cb814702b4b84" /><Relationship Type="http://schemas.openxmlformats.org/officeDocument/2006/relationships/slide" Target="/ppt/slides/slide2.xml" Id="R2241fccbb7eb414f" /><Relationship Type="http://schemas.openxmlformats.org/officeDocument/2006/relationships/slide" Target="/ppt/slides/slide3.xml" Id="R9456184a5ce246d3" /><Relationship Type="http://schemas.openxmlformats.org/officeDocument/2006/relationships/slide" Target="/ppt/slides/slide4.xml" Id="R0dd4459acc8b4208" /><Relationship Type="http://schemas.openxmlformats.org/officeDocument/2006/relationships/slide" Target="/ppt/slides/slide5.xml" Id="R58d44d3bad914665" /><Relationship Type="http://schemas.openxmlformats.org/officeDocument/2006/relationships/slide" Target="/ppt/slides/slide6.xml" Id="Rfa2ad17e26c947fd" /><Relationship Type="http://schemas.openxmlformats.org/officeDocument/2006/relationships/slide" Target="/ppt/slides/slide7.xml" Id="Rbed3656003314946" /><Relationship Type="http://schemas.openxmlformats.org/officeDocument/2006/relationships/slide" Target="/ppt/slides/slide8.xml" Id="R979e6898e44d4946" /><Relationship Type="http://schemas.openxmlformats.org/officeDocument/2006/relationships/slide" Target="/ppt/slides/slide9.xml" Id="R745b48f4eb974f4a" /><Relationship Type="http://schemas.openxmlformats.org/officeDocument/2006/relationships/slide" Target="/ppt/slides/slide10.xml" Id="Rb50990be5e144c5e" /><Relationship Type="http://schemas.openxmlformats.org/officeDocument/2006/relationships/slide" Target="/ppt/slides/slide11.xml" Id="R2e0b5ff6d8ae41bd" /><Relationship Type="http://schemas.openxmlformats.org/officeDocument/2006/relationships/slide" Target="/ppt/slides/slide12.xml" Id="R883e92f60c204b60" /><Relationship Type="http://schemas.openxmlformats.org/officeDocument/2006/relationships/slide" Target="/ppt/slides/slide13.xml" Id="Rd50551e021204ccb" /><Relationship Type="http://schemas.openxmlformats.org/officeDocument/2006/relationships/slide" Target="/ppt/slides/slide14.xml" Id="Rb3238e66f5bb4e04" /><Relationship Type="http://schemas.openxmlformats.org/officeDocument/2006/relationships/slide" Target="/ppt/slides/slide15.xml" Id="R78b310f47bb14f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97e5b8ca814c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e02207a2014dab" /><Relationship Type="http://schemas.openxmlformats.org/officeDocument/2006/relationships/notesMaster" Target="/ppt/notesMasters/notesMaster1.xml" Id="R2e66af8113ce4b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a0f11765c445c6" /><Relationship Type="http://schemas.openxmlformats.org/officeDocument/2006/relationships/notesMaster" Target="/ppt/notesMasters/notesMaster1.xml" Id="R5b2579b583e54e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3550b22edf483f" /><Relationship Type="http://schemas.openxmlformats.org/officeDocument/2006/relationships/notesMaster" Target="/ppt/notesMasters/notesMaster1.xml" Id="R2347a6dc658c49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e382683d5a46b9" /><Relationship Type="http://schemas.openxmlformats.org/officeDocument/2006/relationships/notesMaster" Target="/ppt/notesMasters/notesMaster1.xml" Id="R4a331c7ae70144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37779c3d82445e" /><Relationship Type="http://schemas.openxmlformats.org/officeDocument/2006/relationships/notesMaster" Target="/ppt/notesMasters/notesMaster1.xml" Id="Rc894177d2c2642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37041fd606479b" /><Relationship Type="http://schemas.openxmlformats.org/officeDocument/2006/relationships/notesMaster" Target="/ppt/notesMasters/notesMaster1.xml" Id="R89aa429b08e842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020af0ca79441b" /><Relationship Type="http://schemas.openxmlformats.org/officeDocument/2006/relationships/notesMaster" Target="/ppt/notesMasters/notesMaster1.xml" Id="R445d39072cfa47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7c132fbb0c442a" /><Relationship Type="http://schemas.openxmlformats.org/officeDocument/2006/relationships/notesMaster" Target="/ppt/notesMasters/notesMaster1.xml" Id="R92082746692d4c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713a446fcd40b8" /><Relationship Type="http://schemas.openxmlformats.org/officeDocument/2006/relationships/notesMaster" Target="/ppt/notesMasters/notesMaster1.xml" Id="R0a51c733442645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4086823c4a4af5" /><Relationship Type="http://schemas.openxmlformats.org/officeDocument/2006/relationships/notesMaster" Target="/ppt/notesMasters/notesMaster1.xml" Id="R9908c34b696c4a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46f63305bd4d78" /><Relationship Type="http://schemas.openxmlformats.org/officeDocument/2006/relationships/notesMaster" Target="/ppt/notesMasters/notesMaster1.xml" Id="R1ad0a13bebad4b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c969a9462f4733" /><Relationship Type="http://schemas.openxmlformats.org/officeDocument/2006/relationships/notesMaster" Target="/ppt/notesMasters/notesMaster1.xml" Id="Rad45f59be29d4b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761afd75e242a1" /><Relationship Type="http://schemas.openxmlformats.org/officeDocument/2006/relationships/notesMaster" Target="/ppt/notesMasters/notesMaster1.xml" Id="R0001b88a95944b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6ec10b64d84b80" /><Relationship Type="http://schemas.openxmlformats.org/officeDocument/2006/relationships/notesMaster" Target="/ppt/notesMasters/notesMaster1.xml" Id="R9f9b06bcc6ef41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97209de3e094ac2" /><Relationship Type="http://schemas.openxmlformats.org/officeDocument/2006/relationships/notesMaster" Target="/ppt/notesMasters/notesMaster1.xml" Id="Red547766aba64e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40c09729b64e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939243999a4576" /><Relationship Type="http://schemas.openxmlformats.org/officeDocument/2006/relationships/slideLayout" Target="/ppt/slideLayouts/slideLayout1.xml" Id="R8cd8a943e05747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d8a943e05747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f1849ae3b4834" /><Relationship Type="http://schemas.openxmlformats.org/officeDocument/2006/relationships/image" Target="/ppt/media/image.png" Id="R4d2d8af60a3c43e5" /><Relationship Type="http://schemas.openxmlformats.org/officeDocument/2006/relationships/notesSlide" Target="/ppt/notesSlides/notesSlide1.xml" Id="R3df6cac3d89c40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5112bd6164e84" /><Relationship Type="http://schemas.openxmlformats.org/officeDocument/2006/relationships/notesSlide" Target="/ppt/notesSlides/notesSlide2.xml" Id="R37e884c2369446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d08f361834672" /><Relationship Type="http://schemas.openxmlformats.org/officeDocument/2006/relationships/notesSlide" Target="/ppt/notesSlides/notesSlide3.xml" Id="Rab0458117d024a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310e4f7414459" /><Relationship Type="http://schemas.openxmlformats.org/officeDocument/2006/relationships/notesSlide" Target="/ppt/notesSlides/notesSlide4.xml" Id="Ra454ccdbc5754e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0069e40ff4763" /><Relationship Type="http://schemas.openxmlformats.org/officeDocument/2006/relationships/image" Target="/ppt/media/image2.png" Id="R4997d2ce87b644b3" /><Relationship Type="http://schemas.openxmlformats.org/officeDocument/2006/relationships/image" Target="/ppt/media/image3.png" Id="Rcc372409ec24461e" /><Relationship Type="http://schemas.openxmlformats.org/officeDocument/2006/relationships/notesSlide" Target="/ppt/notesSlides/notesSlide5.xml" Id="R3aa11dd80ad34a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10f580fdf4363" /><Relationship Type="http://schemas.openxmlformats.org/officeDocument/2006/relationships/image" Target="/ppt/media/image4.png" Id="R2503609e93154505" /><Relationship Type="http://schemas.openxmlformats.org/officeDocument/2006/relationships/image" Target="/ppt/media/image5.png" Id="R6b89d068c723425a" /><Relationship Type="http://schemas.openxmlformats.org/officeDocument/2006/relationships/notesSlide" Target="/ppt/notesSlides/notesSlide6.xml" Id="R87f0b1ef299747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d96840aee4048" /><Relationship Type="http://schemas.openxmlformats.org/officeDocument/2006/relationships/image" Target="/ppt/media/image6.png" Id="R0421ea7af7c449de" /><Relationship Type="http://schemas.openxmlformats.org/officeDocument/2006/relationships/notesSlide" Target="/ppt/notesSlides/notesSlide7.xml" Id="Rf0c47ab34fa346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9834801c34c67" /><Relationship Type="http://schemas.openxmlformats.org/officeDocument/2006/relationships/notesSlide" Target="/ppt/notesSlides/notesSlide8.xml" Id="Rb3cf8858729349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93e8b102142f1" /><Relationship Type="http://schemas.openxmlformats.org/officeDocument/2006/relationships/notesSlide" Target="/ppt/notesSlides/notesSlide9.xml" Id="R530513ff780b48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da9d921ca4ff1" /><Relationship Type="http://schemas.openxmlformats.org/officeDocument/2006/relationships/notesSlide" Target="/ppt/notesSlides/notesSlide10.xml" Id="R357eb8a3131e42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1744240c24a78" /><Relationship Type="http://schemas.openxmlformats.org/officeDocument/2006/relationships/chart" Target="/ppt/slides/charts/chart1.xml" Id="Refab483969eb4c9e" /><Relationship Type="http://schemas.openxmlformats.org/officeDocument/2006/relationships/notesSlide" Target="/ppt/notesSlides/notesSlide11.xml" Id="R0c99e4f1dd3044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2aec0310e4226" /><Relationship Type="http://schemas.openxmlformats.org/officeDocument/2006/relationships/notesSlide" Target="/ppt/notesSlides/notesSlide12.xml" Id="Rb72f78b51a3349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40265cb96429e" /><Relationship Type="http://schemas.openxmlformats.org/officeDocument/2006/relationships/notesSlide" Target="/ppt/notesSlides/notesSlide13.xml" Id="R162230944bd742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2f46861d14c1e" /><Relationship Type="http://schemas.openxmlformats.org/officeDocument/2006/relationships/notesSlide" Target="/ppt/notesSlides/notesSlide14.xml" Id="Rf41d31417c6944c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ae64ad7304247" /><Relationship Type="http://schemas.openxmlformats.org/officeDocument/2006/relationships/notesSlide" Target="/ppt/notesSlides/notesSlide15.xml" Id="Rf4cd1fff1247458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Commits</c:v>
          </c:tx>
          <c:spPr>
            <a:solidFill xmlns:a="http://schemas.openxmlformats.org/drawingml/2006/main">
              <a:srgbClr val="205B3A"/>
            </a:solidFill>
          </c:spPr>
          <c:cat>
            <c:strLit>
              <c:ptCount val="7"/>
              <c:pt idx="0">
                <c:v>Christian</c:v>
              </c:pt>
              <c:pt idx="1">
                <c:v>Carlos</c:v>
              </c:pt>
              <c:pt idx="2">
                <c:v>Kevin</c:v>
              </c:pt>
              <c:pt idx="3">
                <c:v>Zahid</c:v>
              </c:pt>
              <c:pt idx="4">
                <c:v>Diego</c:v>
              </c:pt>
              <c:pt idx="5">
                <c:v>Daniel</c:v>
              </c:pt>
              <c:pt idx="6">
                <c:v>Adán</c:v>
              </c:pt>
            </c:strLit>
          </c:cat>
          <c:val>
            <c:numLit>
              <c:formatCode>General</c:formatCode>
              <c:ptCount val="7"/>
              <c:pt idx="0">
                <c:v>63</c:v>
              </c:pt>
              <c:pt idx="1">
                <c:v>69</c:v>
              </c:pt>
              <c:pt idx="2">
                <c:v>38</c:v>
              </c:pt>
              <c:pt idx="3">
                <c:v>25</c:v>
              </c:pt>
              <c:pt idx="4">
                <c:v>10</c:v>
              </c:pt>
              <c:pt idx="5">
                <c:v>7</c:v>
              </c:pt>
              <c:pt idx="6">
                <c:v>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1F2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1DA42D6A-0436-493B-A2F8-B04BE41A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B3A"/>
          </a:solidFill>
          <a:ln xmlns:a="http://schemas.openxmlformats.org/drawingml/2006/main" w="9525">
            <a:solidFill>
              <a:srgbClr val="205B3A"/>
            </a:solidFill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FBC3CB4-8E17-4CB8-B938-DC9DC010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PRESENTACIÓN EJECUTIVA · FASE SHD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D8D5363-7484-4A57-AB97-07F626B5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5334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Tiendita Maday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85ACAC8-5841-4550-A4BA-3F843D0D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4953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Operación integrada para La Familia</a:t>
            </a:r>
          </a:p>
        </p:txBody>
      </p:sp>
      <p:sp>
        <p:nvSpPr>
          <p:cNvPr id="5" name="cover-message">
            <a:extLst xmlns:a="http://schemas.openxmlformats.org/drawingml/2006/main">
              <a:ext uri="{FF2B5EF4-FFF2-40B4-BE49-F238E27FC236}">
                <a16:creationId xmlns:a16="http://schemas.microsoft.com/office/drawing/2014/main" id="{9D7344DF-5CCD-413F-9096-50FB3B76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48577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Una aplicación funcional para compra, caja, inventario, administración y control del negocio.</a:t>
            </a:r>
          </a:p>
        </p:txBody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EDA20C99-3310-486E-81B9-C9D87A52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Demo funcional · arquitectura · Git · pruebas · resultados</a:t>
            </a:r>
          </a:p>
        </p:txBody>
      </p:sp>
      <p:sp>
        <p:nvSpPr>
          <p:cNvPr id="7" name="cover-image-frame">
            <a:extLst xmlns:a="http://schemas.openxmlformats.org/drawingml/2006/main">
              <a:ext uri="{FF2B5EF4-FFF2-40B4-BE49-F238E27FC236}">
                <a16:creationId xmlns:a16="http://schemas.microsoft.com/office/drawing/2014/main" id="{FA450A8E-CDFF-4477-B1EE-6BF2AF2B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66750"/>
            <a:ext cx="558165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1F2F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C77A9B03-6C86-4EBA-8C64-8754D5E5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95950"/>
            <a:ext cx="504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Panel administrativo con datos de demostración</a:t>
            </a:r>
          </a:p>
        </p:txBody>
      </p:sp>
      <p:sp>
        <p:nvSpPr>
          <p:cNvPr id="9" name="revision-1">
            <a:extLst xmlns:a="http://schemas.openxmlformats.org/drawingml/2006/main">
              <a:ext uri="{FF2B5EF4-FFF2-40B4-BE49-F238E27FC236}">
                <a16:creationId xmlns:a16="http://schemas.microsoft.com/office/drawing/2014/main" id="{EE47217F-8291-4541-A81C-E338EFC1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b61259d · 16 jul 2026</a:t>
            </a:r>
          </a:p>
        </p:txBody>
      </p:sp>
      <p:sp>
        <p:nvSpPr>
          <p:cNvPr id="10" name="page-1">
            <a:extLst xmlns:a="http://schemas.openxmlformats.org/drawingml/2006/main">
              <a:ext uri="{FF2B5EF4-FFF2-40B4-BE49-F238E27FC236}">
                <a16:creationId xmlns:a16="http://schemas.microsoft.com/office/drawing/2014/main" id="{859359E8-7B05-44E1-B2A8-E930B044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d8af60a3c43e5"/>
          <a:stretch xmlns:a="http://schemas.openxmlformats.org/drawingml/2006/main"/>
        </p:blipFill>
        <p:spPr>
          <a:xfrm xmlns:a="http://schemas.openxmlformats.org/drawingml/2006/main">
            <a:off x="6362700" y="1446609"/>
            <a:ext cx="5276850" cy="32980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323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">
            <a:extLst xmlns:a="http://schemas.openxmlformats.org/drawingml/2006/main">
              <a:ext uri="{FF2B5EF4-FFF2-40B4-BE49-F238E27FC236}">
                <a16:creationId xmlns:a16="http://schemas.microsoft.com/office/drawing/2014/main" id="{BEA8D106-3401-421F-B035-36DEBEF6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53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El problema no era vender: era controlar la operación completa</a:t>
            </a:r>
          </a:p>
        </p:txBody>
      </p:sp>
      <p:cxnSp>
        <p:nvCxnSpPr>
          <p:cNvPr id="14" name="title-rule-2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problem-intro">
            <a:extLst xmlns:a="http://schemas.openxmlformats.org/drawingml/2006/main">
              <a:ext uri="{FF2B5EF4-FFF2-40B4-BE49-F238E27FC236}">
                <a16:creationId xmlns:a16="http://schemas.microsoft.com/office/drawing/2014/main" id="{B910F2AC-A7F4-4BF6-B8F6-F2CFEAF7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La Familia necesitaba reunir procesos que normalmente quedan separados entre mostrador, inventario y administración.</a:t>
            </a:r>
          </a:p>
        </p:txBody>
      </p:sp>
      <p:sp>
        <p:nvSpPr>
          <p:cNvPr id="4" name="before-panel">
            <a:extLst xmlns:a="http://schemas.openxmlformats.org/drawingml/2006/main">
              <a:ext uri="{FF2B5EF4-FFF2-40B4-BE49-F238E27FC236}">
                <a16:creationId xmlns:a16="http://schemas.microsoft.com/office/drawing/2014/main" id="{EEEB5967-B182-433A-A10A-E23EE74E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54483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2F0"/>
          </a:solidFill>
          <a:ln xmlns:a="http://schemas.openxmlformats.org/drawingml/2006/main" w="9525">
            <a:solidFill>
              <a:srgbClr val="F1F2F0"/>
            </a:solidFill>
            <a:prstDash val="solid"/>
          </a:ln>
        </p:spPr>
      </p:sp>
      <p:sp>
        <p:nvSpPr>
          <p:cNvPr id="5" name="after-panel">
            <a:extLst xmlns:a="http://schemas.openxmlformats.org/drawingml/2006/main">
              <a:ext uri="{FF2B5EF4-FFF2-40B4-BE49-F238E27FC236}">
                <a16:creationId xmlns:a16="http://schemas.microsoft.com/office/drawing/2014/main" id="{042E1855-1D42-427A-B722-FA3168A7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38400"/>
            <a:ext cx="54483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F0E9"/>
          </a:solidFill>
          <a:ln xmlns:a="http://schemas.openxmlformats.org/drawingml/2006/main" w="9525">
            <a:solidFill>
              <a:srgbClr val="E7F0E9"/>
            </a:solidFill>
            <a:prstDash val="solid"/>
          </a:ln>
        </p:spPr>
      </p:sp>
      <p:sp>
        <p:nvSpPr>
          <p:cNvPr id="6" name="before-title">
            <a:extLst xmlns:a="http://schemas.openxmlformats.org/drawingml/2006/main">
              <a:ext uri="{FF2B5EF4-FFF2-40B4-BE49-F238E27FC236}">
                <a16:creationId xmlns:a16="http://schemas.microsoft.com/office/drawing/2014/main" id="{004088DE-60D9-4B9C-8BB4-357BC7FC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4857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Antes: información fragmentada</a:t>
            </a:r>
          </a:p>
        </p:txBody>
      </p:sp>
      <p:sp>
        <p:nvSpPr>
          <p:cNvPr id="7" name="before-body">
            <a:extLst xmlns:a="http://schemas.openxmlformats.org/drawingml/2006/main">
              <a:ext uri="{FF2B5EF4-FFF2-40B4-BE49-F238E27FC236}">
                <a16:creationId xmlns:a16="http://schemas.microsoft.com/office/drawing/2014/main" id="{41C87ABA-B089-4C5F-85AD-F1B52BB7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4762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• Ventas sin vínculo directo con stock
• Cortes y ajustes difíciles de auditar
• Roles, pedidos y proveedores dispersos</a:t>
            </a:r>
          </a:p>
        </p:txBody>
      </p:sp>
      <p:sp>
        <p:nvSpPr>
          <p:cNvPr id="8" name="after-title">
            <a:extLst xmlns:a="http://schemas.openxmlformats.org/drawingml/2006/main">
              <a:ext uri="{FF2B5EF4-FFF2-40B4-BE49-F238E27FC236}">
                <a16:creationId xmlns:a16="http://schemas.microsoft.com/office/drawing/2014/main" id="{03E8A6C7-5A45-4FD1-B4B1-60F40658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24150"/>
            <a:ext cx="4857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Con Tiendita Maday: un solo registro</a:t>
            </a:r>
          </a:p>
        </p:txBody>
      </p:sp>
      <p:sp>
        <p:nvSpPr>
          <p:cNvPr id="9" name="after-body">
            <a:extLst xmlns:a="http://schemas.openxmlformats.org/drawingml/2006/main">
              <a:ext uri="{FF2B5EF4-FFF2-40B4-BE49-F238E27FC236}">
                <a16:creationId xmlns:a16="http://schemas.microsoft.com/office/drawing/2014/main" id="{D5B9860B-D137-42FD-8F19-D0CE43B9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76600"/>
            <a:ext cx="4762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• Compra, POS e inventario conectados
• Permisos por rol y trazabilidad
• Paneles para decidir con evidencia</a:t>
            </a:r>
          </a:p>
        </p:txBody>
      </p:sp>
      <p:sp>
        <p:nvSpPr>
          <p:cNvPr id="10" name="problem-takeaway">
            <a:extLst xmlns:a="http://schemas.openxmlformats.org/drawingml/2006/main">
              <a:ext uri="{FF2B5EF4-FFF2-40B4-BE49-F238E27FC236}">
                <a16:creationId xmlns:a16="http://schemas.microsoft.com/office/drawing/2014/main" id="{0821A116-E407-4CFB-8859-C01F87DD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Resultado esperado: menos captura duplicada, mayor control y una base técnica que puede escalar.</a:t>
            </a:r>
          </a:p>
        </p:txBody>
      </p:sp>
      <p:sp>
        <p:nvSpPr>
          <p:cNvPr id="11" name="revision-2">
            <a:extLst xmlns:a="http://schemas.openxmlformats.org/drawingml/2006/main">
              <a:ext uri="{FF2B5EF4-FFF2-40B4-BE49-F238E27FC236}">
                <a16:creationId xmlns:a16="http://schemas.microsoft.com/office/drawing/2014/main" id="{0E52D262-9877-4FB2-8940-34884B02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b61259d · 16 jul 2026</a:t>
            </a:r>
          </a:p>
        </p:txBody>
      </p:sp>
      <p:sp>
        <p:nvSpPr>
          <p:cNvPr id="12" name="page-2">
            <a:extLst xmlns:a="http://schemas.openxmlformats.org/drawingml/2006/main">
              <a:ext uri="{FF2B5EF4-FFF2-40B4-BE49-F238E27FC236}">
                <a16:creationId xmlns:a16="http://schemas.microsoft.com/office/drawing/2014/main" id="{A60C7D37-EEC7-4461-8AF6-C3FEE9AD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223032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3">
            <a:extLst xmlns:a="http://schemas.openxmlformats.org/drawingml/2006/main">
              <a:ext uri="{FF2B5EF4-FFF2-40B4-BE49-F238E27FC236}">
                <a16:creationId xmlns:a16="http://schemas.microsoft.com/office/drawing/2014/main" id="{DFB4EAE8-3187-4943-B6B7-34BF80F3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Cinco perfiles participan en un mismo flujo de negocio</a:t>
            </a:r>
          </a:p>
        </p:txBody>
      </p:sp>
      <p:cxnSp>
        <p:nvCxnSpPr>
          <p:cNvPr id="19" name="title-rule-3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cope-client">
            <a:extLst xmlns:a="http://schemas.openxmlformats.org/drawingml/2006/main">
              <a:ext uri="{FF2B5EF4-FFF2-40B4-BE49-F238E27FC236}">
                <a16:creationId xmlns:a16="http://schemas.microsoft.com/office/drawing/2014/main" id="{D17A81A8-3A71-4A3E-B1E9-E0DA47C8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5334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0"/>
          </a:solidFill>
          <a:ln xmlns:a="http://schemas.openxmlformats.org/drawingml/2006/main" w="9525">
            <a:solidFill>
              <a:srgbClr val="F1F2F0"/>
            </a:solidFill>
            <a:prstDash val="solid"/>
          </a:ln>
        </p:spPr>
      </p:sp>
      <p:sp>
        <p:nvSpPr>
          <p:cNvPr id="4" name="scope-pos">
            <a:extLst xmlns:a="http://schemas.openxmlformats.org/drawingml/2006/main">
              <a:ext uri="{FF2B5EF4-FFF2-40B4-BE49-F238E27FC236}">
                <a16:creationId xmlns:a16="http://schemas.microsoft.com/office/drawing/2014/main" id="{A6EEBBBD-2F6A-48DE-B362-669AE724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66850"/>
            <a:ext cx="57340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0"/>
          </a:solidFill>
          <a:ln xmlns:a="http://schemas.openxmlformats.org/drawingml/2006/main" w="9525">
            <a:solidFill>
              <a:srgbClr val="F1F2F0"/>
            </a:solidFill>
            <a:prstDash val="solid"/>
          </a:ln>
        </p:spPr>
      </p:sp>
      <p:sp>
        <p:nvSpPr>
          <p:cNvPr id="5" name="scope-stock">
            <a:extLst xmlns:a="http://schemas.openxmlformats.org/drawingml/2006/main">
              <a:ext uri="{FF2B5EF4-FFF2-40B4-BE49-F238E27FC236}">
                <a16:creationId xmlns:a16="http://schemas.microsoft.com/office/drawing/2014/main" id="{8F91BFF0-08CB-4867-B0CB-F2471811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5334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0"/>
          </a:solidFill>
          <a:ln xmlns:a="http://schemas.openxmlformats.org/drawingml/2006/main" w="9525">
            <a:solidFill>
              <a:srgbClr val="F1F2F0"/>
            </a:solidFill>
            <a:prstDash val="solid"/>
          </a:ln>
        </p:spPr>
      </p:sp>
      <p:sp>
        <p:nvSpPr>
          <p:cNvPr id="6" name="scope-admin">
            <a:extLst xmlns:a="http://schemas.openxmlformats.org/drawingml/2006/main">
              <a:ext uri="{FF2B5EF4-FFF2-40B4-BE49-F238E27FC236}">
                <a16:creationId xmlns:a16="http://schemas.microsoft.com/office/drawing/2014/main" id="{820B1C82-36E7-4729-90FE-16110935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43300"/>
            <a:ext cx="57340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0"/>
          </a:solidFill>
          <a:ln xmlns:a="http://schemas.openxmlformats.org/drawingml/2006/main" w="9525">
            <a:solidFill>
              <a:srgbClr val="F1F2F0"/>
            </a:solidFill>
            <a:prstDash val="solid"/>
          </a:ln>
        </p:spPr>
      </p:sp>
      <p:sp>
        <p:nvSpPr>
          <p:cNvPr id="7" name="scope-client-title">
            <a:extLst xmlns:a="http://schemas.openxmlformats.org/drawingml/2006/main">
              <a:ext uri="{FF2B5EF4-FFF2-40B4-BE49-F238E27FC236}">
                <a16:creationId xmlns:a16="http://schemas.microsoft.com/office/drawing/2014/main" id="{25376010-B3C8-4CC0-BECD-F4B7E9D9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Cliente</a:t>
            </a:r>
          </a:p>
        </p:txBody>
      </p:sp>
      <p:sp>
        <p:nvSpPr>
          <p:cNvPr id="8" name="scope-client-body">
            <a:extLst xmlns:a="http://schemas.openxmlformats.org/drawingml/2006/main">
              <a:ext uri="{FF2B5EF4-FFF2-40B4-BE49-F238E27FC236}">
                <a16:creationId xmlns:a16="http://schemas.microsoft.com/office/drawing/2014/main" id="{09015555-4116-40B9-B3D0-D317F651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Catálogo · carrito · checkout · entrega/recolección · pedidos · perfil</a:t>
            </a:r>
          </a:p>
        </p:txBody>
      </p:sp>
      <p:sp>
        <p:nvSpPr>
          <p:cNvPr id="9" name="scope-pos-title">
            <a:extLst xmlns:a="http://schemas.openxmlformats.org/drawingml/2006/main">
              <a:ext uri="{FF2B5EF4-FFF2-40B4-BE49-F238E27FC236}">
                <a16:creationId xmlns:a16="http://schemas.microsoft.com/office/drawing/2014/main" id="{2512E8CB-26F3-4F41-A4C5-127503B9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14500"/>
            <a:ext cx="5143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Caja</a:t>
            </a:r>
          </a:p>
        </p:txBody>
      </p:sp>
      <p:sp>
        <p:nvSpPr>
          <p:cNvPr id="10" name="scope-pos-body">
            <a:extLst xmlns:a="http://schemas.openxmlformats.org/drawingml/2006/main">
              <a:ext uri="{FF2B5EF4-FFF2-40B4-BE49-F238E27FC236}">
                <a16:creationId xmlns:a16="http://schemas.microsoft.com/office/drawing/2014/main" id="{3E80809C-C168-4F07-8D86-69EACD4F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5143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Apertura · venta · efectivo/tarjeta · cambio · consulta · corte</a:t>
            </a:r>
          </a:p>
        </p:txBody>
      </p:sp>
      <p:sp>
        <p:nvSpPr>
          <p:cNvPr id="11" name="scope-stock-title">
            <a:extLst xmlns:a="http://schemas.openxmlformats.org/drawingml/2006/main">
              <a:ext uri="{FF2B5EF4-FFF2-40B4-BE49-F238E27FC236}">
                <a16:creationId xmlns:a16="http://schemas.microsoft.com/office/drawing/2014/main" id="{CE42FCA8-3D16-42A9-B76D-A9DB68F6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Almacén</a:t>
            </a:r>
          </a:p>
        </p:txBody>
      </p:sp>
      <p:sp>
        <p:nvSpPr>
          <p:cNvPr id="12" name="scope-stock-body">
            <a:extLst xmlns:a="http://schemas.openxmlformats.org/drawingml/2006/main">
              <a:ext uri="{FF2B5EF4-FFF2-40B4-BE49-F238E27FC236}">
                <a16:creationId xmlns:a16="http://schemas.microsoft.com/office/drawing/2014/main" id="{E5D22E05-68A7-4346-8118-8CF4804D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Existencias · código de barras · entradas/salidas · historial auditable</a:t>
            </a:r>
          </a:p>
        </p:txBody>
      </p:sp>
      <p:sp>
        <p:nvSpPr>
          <p:cNvPr id="13" name="scope-admin-title">
            <a:extLst xmlns:a="http://schemas.openxmlformats.org/drawingml/2006/main">
              <a:ext uri="{FF2B5EF4-FFF2-40B4-BE49-F238E27FC236}">
                <a16:creationId xmlns:a16="http://schemas.microsoft.com/office/drawing/2014/main" id="{B9F285D1-A3D2-403E-A66C-BCC3C435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5143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Gerencia y administración</a:t>
            </a:r>
          </a:p>
        </p:txBody>
      </p:sp>
      <p:sp>
        <p:nvSpPr>
          <p:cNvPr id="14" name="scope-admin-body">
            <a:extLst xmlns:a="http://schemas.openxmlformats.org/drawingml/2006/main">
              <a:ext uri="{FF2B5EF4-FFF2-40B4-BE49-F238E27FC236}">
                <a16:creationId xmlns:a16="http://schemas.microsoft.com/office/drawing/2014/main" id="{C251D758-4F0B-47C1-A8E2-95489F6A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86250"/>
            <a:ext cx="5143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Productos · usuarios · pedidos · abasto · caducidades · promociones · finanzas · configuración</a:t>
            </a:r>
          </a:p>
        </p:txBody>
      </p:sp>
      <p:sp>
        <p:nvSpPr>
          <p:cNvPr id="15" name="scope-note">
            <a:extLst xmlns:a="http://schemas.openxmlformats.org/drawingml/2006/main">
              <a:ext uri="{FF2B5EF4-FFF2-40B4-BE49-F238E27FC236}">
                <a16:creationId xmlns:a16="http://schemas.microsoft.com/office/drawing/2014/main" id="{EE703EAF-A969-412D-BEAE-4811024A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El rol de gerente hereda gestión administrativa; los privilegios de propietario siguen restringidos.</a:t>
            </a:r>
          </a:p>
        </p:txBody>
      </p:sp>
      <p:sp>
        <p:nvSpPr>
          <p:cNvPr id="16" name="revision-3">
            <a:extLst xmlns:a="http://schemas.openxmlformats.org/drawingml/2006/main">
              <a:ext uri="{FF2B5EF4-FFF2-40B4-BE49-F238E27FC236}">
                <a16:creationId xmlns:a16="http://schemas.microsoft.com/office/drawing/2014/main" id="{C6E4B525-0D8D-464B-810E-E1D2DB20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b61259d · 16 jul 2026</a:t>
            </a:r>
          </a:p>
        </p:txBody>
      </p:sp>
      <p:sp>
        <p:nvSpPr>
          <p:cNvPr id="17" name="page-3">
            <a:extLst xmlns:a="http://schemas.openxmlformats.org/drawingml/2006/main">
              <a:ext uri="{FF2B5EF4-FFF2-40B4-BE49-F238E27FC236}">
                <a16:creationId xmlns:a16="http://schemas.microsoft.com/office/drawing/2014/main" id="{F5E79BCD-4058-4C32-A65C-474CAC35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476137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4">
            <a:extLst xmlns:a="http://schemas.openxmlformats.org/drawingml/2006/main">
              <a:ext uri="{FF2B5EF4-FFF2-40B4-BE49-F238E27FC236}">
                <a16:creationId xmlns:a16="http://schemas.microsoft.com/office/drawing/2014/main" id="{5334CDFA-232A-4B8A-B0F4-CB21F905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La demostración recorre una operación de principio a fin</a:t>
            </a:r>
          </a:p>
        </p:txBody>
      </p:sp>
      <p:cxnSp>
        <p:nvCxnSpPr>
          <p:cNvPr id="20" name="title-rule-4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1" name="demo-timeline"/>
          <p:cNvCxnSpPr/>
          <p:nvPr/>
        </p:nvCxnSpPr>
        <p:spPr>
          <a:xfrm xmlns:a="http://schemas.openxmlformats.org/drawingml/2006/main">
            <a:off x="800100" y="3143250"/>
            <a:ext cx="102870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010"/>
            </a:solidFill>
            <a:prstDash val="solid"/>
          </a:ln>
        </p:spPr>
      </p:cxnSp>
      <p:sp>
        <p:nvSpPr>
          <p:cNvPr id="4" name="demo-dot-1">
            <a:extLst xmlns:a="http://schemas.openxmlformats.org/drawingml/2006/main">
              <a:ext uri="{FF2B5EF4-FFF2-40B4-BE49-F238E27FC236}">
                <a16:creationId xmlns:a16="http://schemas.microsoft.com/office/drawing/2014/main" id="{942533D9-10E6-42B7-AEFD-9906B88C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5B3A"/>
          </a:solidFill>
          <a:ln xmlns:a="http://schemas.openxmlformats.org/drawingml/2006/main" w="0">
            <a:solidFill>
              <a:srgbClr val="205B3A"/>
            </a:solidFill>
            <a:prstDash val="solid"/>
          </a:ln>
        </p:spPr>
      </p:sp>
      <p:sp>
        <p:nvSpPr>
          <p:cNvPr id="5" name="demo-dot-2">
            <a:extLst xmlns:a="http://schemas.openxmlformats.org/drawingml/2006/main">
              <a:ext uri="{FF2B5EF4-FFF2-40B4-BE49-F238E27FC236}">
                <a16:creationId xmlns:a16="http://schemas.microsoft.com/office/drawing/2014/main" id="{9C907D30-0B07-4BFC-8F4D-95EBE1CB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76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5B3A"/>
          </a:solidFill>
          <a:ln xmlns:a="http://schemas.openxmlformats.org/drawingml/2006/main" w="0">
            <a:solidFill>
              <a:srgbClr val="205B3A"/>
            </a:solidFill>
            <a:prstDash val="solid"/>
          </a:ln>
        </p:spPr>
      </p:sp>
      <p:sp>
        <p:nvSpPr>
          <p:cNvPr id="6" name="demo-dot-3">
            <a:extLst xmlns:a="http://schemas.openxmlformats.org/drawingml/2006/main">
              <a:ext uri="{FF2B5EF4-FFF2-40B4-BE49-F238E27FC236}">
                <a16:creationId xmlns:a16="http://schemas.microsoft.com/office/drawing/2014/main" id="{0F4A17B1-7901-4832-B611-946F4B80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076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5B3A"/>
          </a:solidFill>
          <a:ln xmlns:a="http://schemas.openxmlformats.org/drawingml/2006/main" w="0">
            <a:solidFill>
              <a:srgbClr val="205B3A"/>
            </a:solidFill>
            <a:prstDash val="solid"/>
          </a:ln>
        </p:spPr>
      </p:sp>
      <p:sp>
        <p:nvSpPr>
          <p:cNvPr id="7" name="demo-date-1">
            <a:extLst xmlns:a="http://schemas.openxmlformats.org/drawingml/2006/main">
              <a:ext uri="{FF2B5EF4-FFF2-40B4-BE49-F238E27FC236}">
                <a16:creationId xmlns:a16="http://schemas.microsoft.com/office/drawing/2014/main" id="{06635FA4-F67A-4125-BCFD-3C26C115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01 · PREPARAR</a:t>
            </a:r>
          </a:p>
        </p:txBody>
      </p:sp>
      <p:sp>
        <p:nvSpPr>
          <p:cNvPr id="8" name="demo-date-2">
            <a:extLst xmlns:a="http://schemas.openxmlformats.org/drawingml/2006/main">
              <a:ext uri="{FF2B5EF4-FFF2-40B4-BE49-F238E27FC236}">
                <a16:creationId xmlns:a16="http://schemas.microsoft.com/office/drawing/2014/main" id="{F73427D9-36C3-4E46-ABB4-F4CE89A2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2890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02 · OPERAR</a:t>
            </a:r>
          </a:p>
        </p:txBody>
      </p:sp>
      <p:sp>
        <p:nvSpPr>
          <p:cNvPr id="9" name="demo-date-3">
            <a:extLst xmlns:a="http://schemas.openxmlformats.org/drawingml/2006/main">
              <a:ext uri="{FF2B5EF4-FFF2-40B4-BE49-F238E27FC236}">
                <a16:creationId xmlns:a16="http://schemas.microsoft.com/office/drawing/2014/main" id="{92F6FFA0-590B-4F9A-B6A6-FED25DFC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2890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03 · COMPROBAR</a:t>
            </a:r>
          </a:p>
        </p:txBody>
      </p:sp>
      <p:sp>
        <p:nvSpPr>
          <p:cNvPr id="10" name="demo-title-1">
            <a:extLst xmlns:a="http://schemas.openxmlformats.org/drawingml/2006/main">
              <a:ext uri="{FF2B5EF4-FFF2-40B4-BE49-F238E27FC236}">
                <a16:creationId xmlns:a16="http://schemas.microsoft.com/office/drawing/2014/main" id="{EBF90C15-75D4-41EA-853F-F85F450A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304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CRUD y acceso</a:t>
            </a:r>
          </a:p>
        </p:txBody>
      </p:sp>
      <p:sp>
        <p:nvSpPr>
          <p:cNvPr id="11" name="demo-body-1">
            <a:extLst xmlns:a="http://schemas.openxmlformats.org/drawingml/2006/main">
              <a:ext uri="{FF2B5EF4-FFF2-40B4-BE49-F238E27FC236}">
                <a16:creationId xmlns:a16="http://schemas.microsoft.com/office/drawing/2014/main" id="{F30C507D-FEDB-4101-B161-4C40AE9F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30480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Alta de usuario/producto
Consulta y modificación
Desactivación controlada</a:t>
            </a:r>
          </a:p>
        </p:txBody>
      </p:sp>
      <p:sp>
        <p:nvSpPr>
          <p:cNvPr id="12" name="demo-title-2">
            <a:extLst xmlns:a="http://schemas.openxmlformats.org/drawingml/2006/main">
              <a:ext uri="{FF2B5EF4-FFF2-40B4-BE49-F238E27FC236}">
                <a16:creationId xmlns:a16="http://schemas.microsoft.com/office/drawing/2014/main" id="{C14A4CFB-4306-4BF2-8075-2589EAED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3238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Flujo funcional</a:t>
            </a:r>
          </a:p>
        </p:txBody>
      </p:sp>
      <p:sp>
        <p:nvSpPr>
          <p:cNvPr id="13" name="demo-body-2">
            <a:extLst xmlns:a="http://schemas.openxmlformats.org/drawingml/2006/main">
              <a:ext uri="{FF2B5EF4-FFF2-40B4-BE49-F238E27FC236}">
                <a16:creationId xmlns:a16="http://schemas.microsoft.com/office/drawing/2014/main" id="{2724B9A8-5E64-4045-AEC6-3A4DEE48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57650"/>
            <a:ext cx="3238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Compra cliente
Venta POS y cambio
Entrada de inventario</a:t>
            </a:r>
          </a:p>
        </p:txBody>
      </p:sp>
      <p:sp>
        <p:nvSpPr>
          <p:cNvPr id="14" name="demo-title-3">
            <a:extLst xmlns:a="http://schemas.openxmlformats.org/drawingml/2006/main">
              <a:ext uri="{FF2B5EF4-FFF2-40B4-BE49-F238E27FC236}">
                <a16:creationId xmlns:a16="http://schemas.microsoft.com/office/drawing/2014/main" id="{BF872B77-9DC7-4B1C-8B48-7D85B7D2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24250"/>
            <a:ext cx="3238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Evidencia y errores</a:t>
            </a:r>
          </a:p>
        </p:txBody>
      </p:sp>
      <p:sp>
        <p:nvSpPr>
          <p:cNvPr id="15" name="demo-body-3">
            <a:extLst xmlns:a="http://schemas.openxmlformats.org/drawingml/2006/main">
              <a:ext uri="{FF2B5EF4-FFF2-40B4-BE49-F238E27FC236}">
                <a16:creationId xmlns:a16="http://schemas.microsoft.com/office/drawing/2014/main" id="{FCCD8725-84DE-4F8B-A278-B82B15E6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57650"/>
            <a:ext cx="3238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Validaciones de campos
Permisos y mensajes
Reportes, caja y auditoría</a:t>
            </a:r>
          </a:p>
        </p:txBody>
      </p:sp>
      <p:sp>
        <p:nvSpPr>
          <p:cNvPr id="16" name="demo-note">
            <a:extLst xmlns:a="http://schemas.openxmlformats.org/drawingml/2006/main">
              <a:ext uri="{FF2B5EF4-FFF2-40B4-BE49-F238E27FC236}">
                <a16:creationId xmlns:a16="http://schemas.microsoft.com/office/drawing/2014/main" id="{C8D16A85-8E0A-4A73-89B2-73DC1EDA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pPr>
            <a:r>
              <a:t>Datos de demostración preparados; no usar pagos live ni credenciales de producción.</a:t>
            </a:r>
          </a:p>
        </p:txBody>
      </p:sp>
      <p:sp>
        <p:nvSpPr>
          <p:cNvPr id="17" name="revision-4">
            <a:extLst xmlns:a="http://schemas.openxmlformats.org/drawingml/2006/main">
              <a:ext uri="{FF2B5EF4-FFF2-40B4-BE49-F238E27FC236}">
                <a16:creationId xmlns:a16="http://schemas.microsoft.com/office/drawing/2014/main" id="{17FAF6F7-2D19-4C89-A954-32EB10AE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b61259d · 16 jul 2026</a:t>
            </a:r>
          </a:p>
        </p:txBody>
      </p:sp>
      <p:sp>
        <p:nvSpPr>
          <p:cNvPr id="18" name="page-4">
            <a:extLst xmlns:a="http://schemas.openxmlformats.org/drawingml/2006/main">
              <a:ext uri="{FF2B5EF4-FFF2-40B4-BE49-F238E27FC236}">
                <a16:creationId xmlns:a16="http://schemas.microsoft.com/office/drawing/2014/main" id="{A03CD21E-53AF-4D3F-92FF-65594657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732737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5">
            <a:extLst xmlns:a="http://schemas.openxmlformats.org/drawingml/2006/main">
              <a:ext uri="{FF2B5EF4-FFF2-40B4-BE49-F238E27FC236}">
                <a16:creationId xmlns:a16="http://schemas.microsoft.com/office/drawing/2014/main" id="{A40700B0-C543-452C-A59E-1080C642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El checkout valida disponibilidad, entrega y pago</a:t>
            </a:r>
          </a:p>
        </p:txBody>
      </p:sp>
      <p:cxnSp>
        <p:nvCxnSpPr>
          <p:cNvPr id="12" name="title-rule-5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client-frame-1">
            <a:extLst xmlns:a="http://schemas.openxmlformats.org/drawingml/2006/main">
              <a:ext uri="{FF2B5EF4-FFF2-40B4-BE49-F238E27FC236}">
                <a16:creationId xmlns:a16="http://schemas.microsoft.com/office/drawing/2014/main" id="{7B80AE1D-89B9-48C8-945B-A4E2A617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5429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1F2F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client-frame-2">
            <a:extLst xmlns:a="http://schemas.openxmlformats.org/drawingml/2006/main">
              <a:ext uri="{FF2B5EF4-FFF2-40B4-BE49-F238E27FC236}">
                <a16:creationId xmlns:a16="http://schemas.microsoft.com/office/drawing/2014/main" id="{A7EA1408-EDA4-473E-B8BF-470F236C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66850"/>
            <a:ext cx="5429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1F2F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client-label-1">
            <a:extLst xmlns:a="http://schemas.openxmlformats.org/drawingml/2006/main">
              <a:ext uri="{FF2B5EF4-FFF2-40B4-BE49-F238E27FC236}">
                <a16:creationId xmlns:a16="http://schemas.microsoft.com/office/drawing/2014/main" id="{515B97E2-9192-4656-BC5B-6D5DABF6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542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Explorar y seleccionar</a:t>
            </a:r>
          </a:p>
        </p:txBody>
      </p:sp>
      <p:sp>
        <p:nvSpPr>
          <p:cNvPr id="6" name="client-label-2">
            <a:extLst xmlns:a="http://schemas.openxmlformats.org/drawingml/2006/main">
              <a:ext uri="{FF2B5EF4-FFF2-40B4-BE49-F238E27FC236}">
                <a16:creationId xmlns:a16="http://schemas.microsoft.com/office/drawing/2014/main" id="{35E30487-D5FD-4265-905D-4F89B532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81650"/>
            <a:ext cx="542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Identificar, dirigir, enviar y pagar</a:t>
            </a:r>
          </a:p>
        </p:txBody>
      </p:sp>
      <p:sp>
        <p:nvSpPr>
          <p:cNvPr id="7" name="revision-5">
            <a:extLst xmlns:a="http://schemas.openxmlformats.org/drawingml/2006/main">
              <a:ext uri="{FF2B5EF4-FFF2-40B4-BE49-F238E27FC236}">
                <a16:creationId xmlns:a16="http://schemas.microsoft.com/office/drawing/2014/main" id="{3C7BB490-B277-4704-A405-B7F7F2F1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b61259d · 16 jul 2026</a:t>
            </a:r>
          </a:p>
        </p:txBody>
      </p:sp>
      <p:sp>
        <p:nvSpPr>
          <p:cNvPr id="8" name="page-5">
            <a:extLst xmlns:a="http://schemas.openxmlformats.org/drawingml/2006/main">
              <a:ext uri="{FF2B5EF4-FFF2-40B4-BE49-F238E27FC236}">
                <a16:creationId xmlns:a16="http://schemas.microsoft.com/office/drawing/2014/main" id="{7A755C3F-BB70-4759-ADBF-849D0C35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7d2ce87b644b3"/>
          <a:stretch xmlns:a="http://schemas.openxmlformats.org/drawingml/2006/main"/>
        </p:blipFill>
        <p:spPr>
          <a:xfrm xmlns:a="http://schemas.openxmlformats.org/drawingml/2006/main">
            <a:off x="533400" y="1806178"/>
            <a:ext cx="5162550" cy="3226594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72409ec24461e"/>
          <a:stretch xmlns:a="http://schemas.openxmlformats.org/drawingml/2006/main"/>
        </p:blipFill>
        <p:spPr>
          <a:xfrm xmlns:a="http://schemas.openxmlformats.org/drawingml/2006/main">
            <a:off x="6496050" y="1806178"/>
            <a:ext cx="5162550" cy="32265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863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3534C58E-7670-42FB-97DE-E7BFEBB7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Caja e inventario comparten trazabilidad operativa</a:t>
            </a:r>
          </a:p>
        </p:txBody>
      </p:sp>
      <p:cxnSp>
        <p:nvCxnSpPr>
          <p:cNvPr id="12" name="title-rule-6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pos-frame">
            <a:extLst xmlns:a="http://schemas.openxmlformats.org/drawingml/2006/main">
              <a:ext uri="{FF2B5EF4-FFF2-40B4-BE49-F238E27FC236}">
                <a16:creationId xmlns:a16="http://schemas.microsoft.com/office/drawing/2014/main" id="{4C9A4A49-E739-41E1-89A9-34C4528D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5429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1F2F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stock-frame">
            <a:extLst xmlns:a="http://schemas.openxmlformats.org/drawingml/2006/main">
              <a:ext uri="{FF2B5EF4-FFF2-40B4-BE49-F238E27FC236}">
                <a16:creationId xmlns:a16="http://schemas.microsoft.com/office/drawing/2014/main" id="{2BB4D803-EDA3-4E78-BC3F-C3A8F0BD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66850"/>
            <a:ext cx="5429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1F2F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pos-label">
            <a:extLst xmlns:a="http://schemas.openxmlformats.org/drawingml/2006/main">
              <a:ext uri="{FF2B5EF4-FFF2-40B4-BE49-F238E27FC236}">
                <a16:creationId xmlns:a16="http://schemas.microsoft.com/office/drawing/2014/main" id="{80D90FDB-F112-4BE3-BFA6-7EEE10D6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542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Venta POS: total, método y confirmación</a:t>
            </a:r>
          </a:p>
        </p:txBody>
      </p:sp>
      <p:sp>
        <p:nvSpPr>
          <p:cNvPr id="6" name="stock-label">
            <a:extLst xmlns:a="http://schemas.openxmlformats.org/drawingml/2006/main">
              <a:ext uri="{FF2B5EF4-FFF2-40B4-BE49-F238E27FC236}">
                <a16:creationId xmlns:a16="http://schemas.microsoft.com/office/drawing/2014/main" id="{1B8EDBCA-9930-4D66-B8B3-7C9F14CD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81650"/>
            <a:ext cx="542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Movimiento: antes/después, motivo y responsable</a:t>
            </a:r>
          </a:p>
        </p:txBody>
      </p:sp>
      <p:sp>
        <p:nvSpPr>
          <p:cNvPr id="7" name="revision-6">
            <a:extLst xmlns:a="http://schemas.openxmlformats.org/drawingml/2006/main">
              <a:ext uri="{FF2B5EF4-FFF2-40B4-BE49-F238E27FC236}">
                <a16:creationId xmlns:a16="http://schemas.microsoft.com/office/drawing/2014/main" id="{88A9E627-42B4-44E3-83F4-A217CAB7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b61259d · 16 jul 2026</a:t>
            </a:r>
          </a:p>
        </p:txBody>
      </p:sp>
      <p:sp>
        <p:nvSpPr>
          <p:cNvPr id="8" name="page-6">
            <a:extLst xmlns:a="http://schemas.openxmlformats.org/drawingml/2006/main">
              <a:ext uri="{FF2B5EF4-FFF2-40B4-BE49-F238E27FC236}">
                <a16:creationId xmlns:a16="http://schemas.microsoft.com/office/drawing/2014/main" id="{16257280-BC7F-42BA-90D2-48901D4E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3609e93154505"/>
          <a:stretch xmlns:a="http://schemas.openxmlformats.org/drawingml/2006/main"/>
        </p:blipFill>
        <p:spPr>
          <a:xfrm xmlns:a="http://schemas.openxmlformats.org/drawingml/2006/main">
            <a:off x="533400" y="1806178"/>
            <a:ext cx="5162550" cy="3226594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9d068c723425a"/>
          <a:stretch xmlns:a="http://schemas.openxmlformats.org/drawingml/2006/main"/>
        </p:blipFill>
        <p:spPr>
          <a:xfrm xmlns:a="http://schemas.openxmlformats.org/drawingml/2006/main">
            <a:off x="6496050" y="1806178"/>
            <a:ext cx="5162550" cy="32265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9445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7">
            <a:extLst xmlns:a="http://schemas.openxmlformats.org/drawingml/2006/main">
              <a:ext uri="{FF2B5EF4-FFF2-40B4-BE49-F238E27FC236}">
                <a16:creationId xmlns:a16="http://schemas.microsoft.com/office/drawing/2014/main" id="{5B217055-BAD7-4E1F-8C4A-B55AFACC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El panel administrativo reúne CRUD, reportes y controles</a:t>
            </a:r>
          </a:p>
        </p:txBody>
      </p:sp>
      <p:cxnSp>
        <p:nvCxnSpPr>
          <p:cNvPr id="16" name="title-rule-7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admin-frame">
            <a:extLst xmlns:a="http://schemas.openxmlformats.org/drawingml/2006/main">
              <a:ext uri="{FF2B5EF4-FFF2-40B4-BE49-F238E27FC236}">
                <a16:creationId xmlns:a16="http://schemas.microsoft.com/office/drawing/2014/main" id="{832E81C0-E4FE-46F5-9310-D43956BB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70675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1F2F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admin-1">
            <a:extLst xmlns:a="http://schemas.openxmlformats.org/drawingml/2006/main">
              <a:ext uri="{FF2B5EF4-FFF2-40B4-BE49-F238E27FC236}">
                <a16:creationId xmlns:a16="http://schemas.microsoft.com/office/drawing/2014/main" id="{087EDF5D-A52F-44AA-9B67-5FE103C4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5735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ALTA</a:t>
            </a:r>
          </a:p>
        </p:txBody>
      </p:sp>
      <p:sp>
        <p:nvSpPr>
          <p:cNvPr id="5" name="admin-1b">
            <a:extLst xmlns:a="http://schemas.openxmlformats.org/drawingml/2006/main">
              <a:ext uri="{FF2B5EF4-FFF2-40B4-BE49-F238E27FC236}">
                <a16:creationId xmlns:a16="http://schemas.microsoft.com/office/drawing/2014/main" id="{4189CC11-AF52-426A-B1C8-59690676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3524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Nuevo producto, usuario, proveedor, orden o promoción.</a:t>
            </a:r>
          </a:p>
        </p:txBody>
      </p:sp>
      <p:sp>
        <p:nvSpPr>
          <p:cNvPr id="6" name="admin-2">
            <a:extLst xmlns:a="http://schemas.openxmlformats.org/drawingml/2006/main">
              <a:ext uri="{FF2B5EF4-FFF2-40B4-BE49-F238E27FC236}">
                <a16:creationId xmlns:a16="http://schemas.microsoft.com/office/drawing/2014/main" id="{3A737C92-5D86-4F26-A9AE-8CB376C3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035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MODIFICAR Y CONSULTAR</a:t>
            </a:r>
          </a:p>
        </p:txBody>
      </p:sp>
      <p:sp>
        <p:nvSpPr>
          <p:cNvPr id="7" name="admin-2b">
            <a:extLst xmlns:a="http://schemas.openxmlformats.org/drawingml/2006/main">
              <a:ext uri="{FF2B5EF4-FFF2-40B4-BE49-F238E27FC236}">
                <a16:creationId xmlns:a16="http://schemas.microsoft.com/office/drawing/2014/main" id="{9747B445-D0DE-4BD7-92E8-ADF6E685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3524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Filtros, edición, estados y detalle por módulo.</a:t>
            </a:r>
          </a:p>
        </p:txBody>
      </p:sp>
      <p:sp>
        <p:nvSpPr>
          <p:cNvPr id="8" name="admin-3">
            <a:extLst xmlns:a="http://schemas.openxmlformats.org/drawingml/2006/main">
              <a:ext uri="{FF2B5EF4-FFF2-40B4-BE49-F238E27FC236}">
                <a16:creationId xmlns:a16="http://schemas.microsoft.com/office/drawing/2014/main" id="{3274FD05-B271-437C-8F63-92106099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433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ELIMINAR / DESACTIVAR</a:t>
            </a:r>
          </a:p>
        </p:txBody>
      </p:sp>
      <p:sp>
        <p:nvSpPr>
          <p:cNvPr id="9" name="admin-3b">
            <a:extLst xmlns:a="http://schemas.openxmlformats.org/drawingml/2006/main">
              <a:ext uri="{FF2B5EF4-FFF2-40B4-BE49-F238E27FC236}">
                <a16:creationId xmlns:a16="http://schemas.microsoft.com/office/drawing/2014/main" id="{39A1C1B3-7284-4082-AFD0-F424856A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86250"/>
            <a:ext cx="3524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Acciones controladas; la trazabilidad histórica se conserva.</a:t>
            </a:r>
          </a:p>
        </p:txBody>
      </p:sp>
      <p:sp>
        <p:nvSpPr>
          <p:cNvPr id="10" name="admin-4">
            <a:extLst xmlns:a="http://schemas.openxmlformats.org/drawingml/2006/main">
              <a:ext uri="{FF2B5EF4-FFF2-40B4-BE49-F238E27FC236}">
                <a16:creationId xmlns:a16="http://schemas.microsoft.com/office/drawing/2014/main" id="{0256BDF9-964C-4735-9DDD-AFD9443F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244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REPORTAR</a:t>
            </a:r>
          </a:p>
        </p:txBody>
      </p:sp>
      <p:sp>
        <p:nvSpPr>
          <p:cNvPr id="11" name="admin-4b">
            <a:extLst xmlns:a="http://schemas.openxmlformats.org/drawingml/2006/main">
              <a:ext uri="{FF2B5EF4-FFF2-40B4-BE49-F238E27FC236}">
                <a16:creationId xmlns:a16="http://schemas.microsoft.com/office/drawing/2014/main" id="{C08DB096-FA3E-4C03-B2DF-B3FC2F3E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67350"/>
            <a:ext cx="3524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Dashboard, ventas/corte, movimientos, pedidos y finanzas.</a:t>
            </a:r>
          </a:p>
        </p:txBody>
      </p:sp>
      <p:sp>
        <p:nvSpPr>
          <p:cNvPr id="12" name="revision-7">
            <a:extLst xmlns:a="http://schemas.openxmlformats.org/drawingml/2006/main">
              <a:ext uri="{FF2B5EF4-FFF2-40B4-BE49-F238E27FC236}">
                <a16:creationId xmlns:a16="http://schemas.microsoft.com/office/drawing/2014/main" id="{573AC737-D72E-4AAD-B430-E77BC65B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b61259d · 16 jul 2026</a:t>
            </a:r>
          </a:p>
        </p:txBody>
      </p:sp>
      <p:sp>
        <p:nvSpPr>
          <p:cNvPr id="13" name="page-7">
            <a:extLst xmlns:a="http://schemas.openxmlformats.org/drawingml/2006/main">
              <a:ext uri="{FF2B5EF4-FFF2-40B4-BE49-F238E27FC236}">
                <a16:creationId xmlns:a16="http://schemas.microsoft.com/office/drawing/2014/main" id="{244B5DA9-81CD-4A47-8DD7-FD2E0AA8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1ea7af7c449de"/>
          <a:stretch xmlns:a="http://schemas.openxmlformats.org/drawingml/2006/main"/>
        </p:blipFill>
        <p:spPr>
          <a:xfrm xmlns:a="http://schemas.openxmlformats.org/drawingml/2006/main">
            <a:off x="596265" y="1600200"/>
            <a:ext cx="6675120" cy="4171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107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itle-8">
            <a:extLst xmlns:a="http://schemas.openxmlformats.org/drawingml/2006/main">
              <a:ext uri="{FF2B5EF4-FFF2-40B4-BE49-F238E27FC236}">
                <a16:creationId xmlns:a16="http://schemas.microsoft.com/office/drawing/2014/main" id="{BD6ADB1F-0674-4A7E-BA10-B5794E86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La arquitectura separa experiencia, reglas y datos</a:t>
            </a:r>
          </a:p>
        </p:txBody>
      </p:sp>
      <p:cxnSp>
        <p:nvCxnSpPr>
          <p:cNvPr id="28" name="title-rule-8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arch-intro">
            <a:extLst xmlns:a="http://schemas.openxmlformats.org/drawingml/2006/main">
              <a:ext uri="{FF2B5EF4-FFF2-40B4-BE49-F238E27FC236}">
                <a16:creationId xmlns:a16="http://schemas.microsoft.com/office/drawing/2014/main" id="{E7B186C2-88FA-4A4F-BD8C-19874CCF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1391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La separación permite mantener permisos y reglas críticas en el servidor, no en la interfaz.</a:t>
            </a:r>
          </a:p>
        </p:txBody>
      </p:sp>
      <p:cxnSp>
        <p:nvCxnSpPr>
          <p:cNvPr id="30" name="arch-link-1"/>
          <p:cNvCxnSpPr/>
          <p:nvPr/>
        </p:nvCxnSpPr>
        <p:spPr>
          <a:xfrm xmlns:a="http://schemas.openxmlformats.org/drawingml/2006/main">
            <a:off x="1962150" y="3238500"/>
            <a:ext cx="914400" cy="28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05B3A"/>
            </a:solidFill>
            <a:prstDash val="solid"/>
          </a:ln>
        </p:spPr>
      </p:cxnSp>
      <p:cxnSp>
        <p:nvCxnSpPr>
          <p:cNvPr id="31" name="arch-link-2"/>
          <p:cNvCxnSpPr/>
          <p:nvPr/>
        </p:nvCxnSpPr>
        <p:spPr>
          <a:xfrm xmlns:a="http://schemas.openxmlformats.org/drawingml/2006/main">
            <a:off x="4248150" y="3238500"/>
            <a:ext cx="914400" cy="28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05B3A"/>
            </a:solidFill>
            <a:prstDash val="solid"/>
          </a:ln>
        </p:spPr>
      </p:cxnSp>
      <p:cxnSp>
        <p:nvCxnSpPr>
          <p:cNvPr id="32" name="arch-link-3"/>
          <p:cNvCxnSpPr/>
          <p:nvPr/>
        </p:nvCxnSpPr>
        <p:spPr>
          <a:xfrm xmlns:a="http://schemas.openxmlformats.org/drawingml/2006/main">
            <a:off x="6534150" y="3238500"/>
            <a:ext cx="914400" cy="28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05B3A"/>
            </a:solidFill>
            <a:prstDash val="solid"/>
          </a:ln>
        </p:spPr>
      </p:cxnSp>
      <p:cxnSp>
        <p:nvCxnSpPr>
          <p:cNvPr id="33" name="arch-link-4"/>
          <p:cNvCxnSpPr/>
          <p:nvPr/>
        </p:nvCxnSpPr>
        <p:spPr>
          <a:xfrm xmlns:a="http://schemas.openxmlformats.org/drawingml/2006/main">
            <a:off x="8820150" y="3238500"/>
            <a:ext cx="914400" cy="28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05B3A"/>
            </a:solidFill>
            <a:prstDash val="solid"/>
          </a:ln>
        </p:spPr>
      </p:cxnSp>
      <p:sp>
        <p:nvSpPr>
          <p:cNvPr id="8" name="arch-users">
            <a:extLst xmlns:a="http://schemas.openxmlformats.org/drawingml/2006/main">
              <a:ext uri="{FF2B5EF4-FFF2-40B4-BE49-F238E27FC236}">
                <a16:creationId xmlns:a16="http://schemas.microsoft.com/office/drawing/2014/main" id="{34E8B095-296D-4E0B-BFE2-26DF4A1D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562100" cy="16764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1F2F0"/>
          </a:solidFill>
          <a:ln xmlns:a="http://schemas.openxmlformats.org/drawingml/2006/main" w="9525">
            <a:solidFill>
              <a:srgbClr val="F1F2F0"/>
            </a:solidFill>
            <a:prstDash val="solid"/>
          </a:ln>
        </p:spPr>
      </p:sp>
      <p:sp>
        <p:nvSpPr>
          <p:cNvPr id="9" name="arch-ui">
            <a:extLst xmlns:a="http://schemas.openxmlformats.org/drawingml/2006/main">
              <a:ext uri="{FF2B5EF4-FFF2-40B4-BE49-F238E27FC236}">
                <a16:creationId xmlns:a16="http://schemas.microsoft.com/office/drawing/2014/main" id="{FA9F9207-49C8-4000-BD59-9EAE72AC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00300"/>
            <a:ext cx="1371600" cy="1676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0" name="arch-api">
            <a:extLst xmlns:a="http://schemas.openxmlformats.org/drawingml/2006/main">
              <a:ext uri="{FF2B5EF4-FFF2-40B4-BE49-F238E27FC236}">
                <a16:creationId xmlns:a16="http://schemas.microsoft.com/office/drawing/2014/main" id="{517F5F72-6E49-4B5A-A033-2435D28E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00300"/>
            <a:ext cx="1371600" cy="1676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7F0E9"/>
          </a:solidFill>
          <a:ln xmlns:a="http://schemas.openxmlformats.org/drawingml/2006/main" w="9525">
            <a:solidFill>
              <a:srgbClr val="E7F0E9"/>
            </a:solidFill>
            <a:prstDash val="solid"/>
          </a:ln>
        </p:spPr>
      </p:sp>
      <p:sp>
        <p:nvSpPr>
          <p:cNvPr id="11" name="arch-db">
            <a:extLst xmlns:a="http://schemas.openxmlformats.org/drawingml/2006/main">
              <a:ext uri="{FF2B5EF4-FFF2-40B4-BE49-F238E27FC236}">
                <a16:creationId xmlns:a16="http://schemas.microsoft.com/office/drawing/2014/main" id="{4022DDAA-AE9F-4638-9A41-3DFCB9AA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00300"/>
            <a:ext cx="1371600" cy="1676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FFF1D8"/>
            </a:solidFill>
            <a:prstDash val="solid"/>
          </a:ln>
        </p:spPr>
      </p:sp>
      <p:sp>
        <p:nvSpPr>
          <p:cNvPr id="12" name="arch-ext">
            <a:extLst xmlns:a="http://schemas.openxmlformats.org/drawingml/2006/main">
              <a:ext uri="{FF2B5EF4-FFF2-40B4-BE49-F238E27FC236}">
                <a16:creationId xmlns:a16="http://schemas.microsoft.com/office/drawing/2014/main" id="{ACA174EB-EB1E-4C80-A957-999FE02D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00300"/>
            <a:ext cx="20574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1F2F0"/>
          </a:solidFill>
          <a:ln xmlns:a="http://schemas.openxmlformats.org/drawingml/2006/main" w="9525">
            <a:solidFill>
              <a:srgbClr val="F1F2F0"/>
            </a:solidFill>
            <a:prstDash val="solid"/>
          </a:ln>
        </p:spPr>
      </p:sp>
      <p:sp>
        <p:nvSpPr>
          <p:cNvPr id="13" name="arch-users-title">
            <a:extLst xmlns:a="http://schemas.openxmlformats.org/drawingml/2006/main">
              <a:ext uri="{FF2B5EF4-FFF2-40B4-BE49-F238E27FC236}">
                <a16:creationId xmlns:a16="http://schemas.microsoft.com/office/drawing/2014/main" id="{A19830A5-C25F-41FE-99D1-F3A14B3D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125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Personas</a:t>
            </a:r>
          </a:p>
        </p:txBody>
      </p:sp>
      <p:sp>
        <p:nvSpPr>
          <p:cNvPr id="14" name="arch-users-body">
            <a:extLst xmlns:a="http://schemas.openxmlformats.org/drawingml/2006/main">
              <a:ext uri="{FF2B5EF4-FFF2-40B4-BE49-F238E27FC236}">
                <a16:creationId xmlns:a16="http://schemas.microsoft.com/office/drawing/2014/main" id="{F2AB7DD5-E1C7-40F3-A8C9-CFED0A1C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12573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cliente
cajero
almacén
gerencia
admin</a:t>
            </a:r>
          </a:p>
        </p:txBody>
      </p:sp>
      <p:sp>
        <p:nvSpPr>
          <p:cNvPr id="15" name="arch-ui-title">
            <a:extLst xmlns:a="http://schemas.openxmlformats.org/drawingml/2006/main">
              <a:ext uri="{FF2B5EF4-FFF2-40B4-BE49-F238E27FC236}">
                <a16:creationId xmlns:a16="http://schemas.microsoft.com/office/drawing/2014/main" id="{65582324-5535-4A3E-BF40-5597C494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05100"/>
            <a:ext cx="110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Angular 21</a:t>
            </a:r>
          </a:p>
        </p:txBody>
      </p:sp>
      <p:sp>
        <p:nvSpPr>
          <p:cNvPr id="16" name="arch-ui-body">
            <a:extLst xmlns:a="http://schemas.openxmlformats.org/drawingml/2006/main">
              <a:ext uri="{FF2B5EF4-FFF2-40B4-BE49-F238E27FC236}">
                <a16:creationId xmlns:a16="http://schemas.microsoft.com/office/drawing/2014/main" id="{B23C5D4B-7DCB-42D6-A3B3-A09BE5A0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19450"/>
            <a:ext cx="1104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PWA
responsive
RBAC visible</a:t>
            </a:r>
          </a:p>
        </p:txBody>
      </p:sp>
      <p:sp>
        <p:nvSpPr>
          <p:cNvPr id="17" name="arch-api-title">
            <a:extLst xmlns:a="http://schemas.openxmlformats.org/drawingml/2006/main">
              <a:ext uri="{FF2B5EF4-FFF2-40B4-BE49-F238E27FC236}">
                <a16:creationId xmlns:a16="http://schemas.microsoft.com/office/drawing/2014/main" id="{8EF306D1-4AB1-4549-A2E7-D15DB100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05100"/>
            <a:ext cx="110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Express 4</a:t>
            </a:r>
          </a:p>
        </p:txBody>
      </p:sp>
      <p:sp>
        <p:nvSpPr>
          <p:cNvPr id="18" name="arch-api-body">
            <a:extLst xmlns:a="http://schemas.openxmlformats.org/drawingml/2006/main">
              <a:ext uri="{FF2B5EF4-FFF2-40B4-BE49-F238E27FC236}">
                <a16:creationId xmlns:a16="http://schemas.microsoft.com/office/drawing/2014/main" id="{43B7519C-CB9C-4DF5-89DF-9793D0A8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19450"/>
            <a:ext cx="11049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API REST
reglas
transacciones</a:t>
            </a:r>
          </a:p>
        </p:txBody>
      </p:sp>
      <p:sp>
        <p:nvSpPr>
          <p:cNvPr id="19" name="arch-db-title">
            <a:extLst xmlns:a="http://schemas.openxmlformats.org/drawingml/2006/main">
              <a:ext uri="{FF2B5EF4-FFF2-40B4-BE49-F238E27FC236}">
                <a16:creationId xmlns:a16="http://schemas.microsoft.com/office/drawing/2014/main" id="{D32D5A3D-1979-4D59-9B94-E363C3B1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05100"/>
            <a:ext cx="114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PostgreSQL</a:t>
            </a:r>
          </a:p>
        </p:txBody>
      </p:sp>
      <p:sp>
        <p:nvSpPr>
          <p:cNvPr id="20" name="arch-db-body">
            <a:extLst xmlns:a="http://schemas.openxmlformats.org/drawingml/2006/main">
              <a:ext uri="{FF2B5EF4-FFF2-40B4-BE49-F238E27FC236}">
                <a16:creationId xmlns:a16="http://schemas.microsoft.com/office/drawing/2014/main" id="{AE0768F5-3616-4265-985C-C11EFF7B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19450"/>
            <a:ext cx="1143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33 entidades
migraciones
auditoría</a:t>
            </a:r>
          </a:p>
        </p:txBody>
      </p:sp>
      <p:sp>
        <p:nvSpPr>
          <p:cNvPr id="21" name="arch-ext-title">
            <a:extLst xmlns:a="http://schemas.openxmlformats.org/drawingml/2006/main">
              <a:ext uri="{FF2B5EF4-FFF2-40B4-BE49-F238E27FC236}">
                <a16:creationId xmlns:a16="http://schemas.microsoft.com/office/drawing/2014/main" id="{A65E30AB-B9E9-4FFA-98D0-B1F31709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05100"/>
            <a:ext cx="1752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Servicios externos</a:t>
            </a:r>
          </a:p>
        </p:txBody>
      </p:sp>
      <p:sp>
        <p:nvSpPr>
          <p:cNvPr id="22" name="arch-ext-body">
            <a:extLst xmlns:a="http://schemas.openxmlformats.org/drawingml/2006/main">
              <a:ext uri="{FF2B5EF4-FFF2-40B4-BE49-F238E27FC236}">
                <a16:creationId xmlns:a16="http://schemas.microsoft.com/office/drawing/2014/main" id="{0B64FB6B-A7DC-4097-86BB-DD05BBAC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19450"/>
            <a:ext cx="17526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Google · PayPal
Cloudinary · correo
OpenAPI</a:t>
            </a:r>
          </a:p>
        </p:txBody>
      </p:sp>
      <p:sp>
        <p:nvSpPr>
          <p:cNvPr id="23" name="arch-security">
            <a:extLst xmlns:a="http://schemas.openxmlformats.org/drawingml/2006/main">
              <a:ext uri="{FF2B5EF4-FFF2-40B4-BE49-F238E27FC236}">
                <a16:creationId xmlns:a16="http://schemas.microsoft.com/office/drawing/2014/main" id="{1229CAE3-E3AE-4A92-B3DA-653BAC17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00600"/>
            <a:ext cx="8877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05B3A"/>
          </a:solidFill>
          <a:ln xmlns:a="http://schemas.openxmlformats.org/drawingml/2006/main" w="9525">
            <a:solidFill>
              <a:srgbClr val="205B3A"/>
            </a:solidFill>
            <a:prstDash val="solid"/>
          </a:ln>
        </p:spPr>
      </p:sp>
      <p:sp>
        <p:nvSpPr>
          <p:cNvPr id="24" name="arch-security-text">
            <a:extLst xmlns:a="http://schemas.openxmlformats.org/drawingml/2006/main">
              <a:ext uri="{FF2B5EF4-FFF2-40B4-BE49-F238E27FC236}">
                <a16:creationId xmlns:a16="http://schemas.microsoft.com/office/drawing/2014/main" id="{86346991-4563-4F1E-AD0F-5B715022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10150"/>
            <a:ext cx="8420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JWT + roles + CORS + validación de servidor + transacciones</a:t>
            </a:r>
          </a:p>
        </p:txBody>
      </p:sp>
      <p:sp>
        <p:nvSpPr>
          <p:cNvPr id="25" name="revision-8">
            <a:extLst xmlns:a="http://schemas.openxmlformats.org/drawingml/2006/main">
              <a:ext uri="{FF2B5EF4-FFF2-40B4-BE49-F238E27FC236}">
                <a16:creationId xmlns:a16="http://schemas.microsoft.com/office/drawing/2014/main" id="{26971F2A-8BF2-4CFF-910A-1173B523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b61259d · 16 jul 2026</a:t>
            </a:r>
          </a:p>
        </p:txBody>
      </p:sp>
      <p:sp>
        <p:nvSpPr>
          <p:cNvPr id="26" name="page-8">
            <a:extLst xmlns:a="http://schemas.openxmlformats.org/drawingml/2006/main">
              <a:ext uri="{FF2B5EF4-FFF2-40B4-BE49-F238E27FC236}">
                <a16:creationId xmlns:a16="http://schemas.microsoft.com/office/drawing/2014/main" id="{029DB10F-13F5-4BAD-93D5-E6FD7789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117188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9">
            <a:extLst xmlns:a="http://schemas.openxmlformats.org/drawingml/2006/main">
              <a:ext uri="{FF2B5EF4-FFF2-40B4-BE49-F238E27FC236}">
                <a16:creationId xmlns:a16="http://schemas.microsoft.com/office/drawing/2014/main" id="{A16ADBE0-BBDC-40C0-AAEF-BE4A623F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El modelo de datos cubre seis dominios operativos</a:t>
            </a:r>
          </a:p>
        </p:txBody>
      </p:sp>
      <p:cxnSp>
        <p:nvCxnSpPr>
          <p:cNvPr id="9" name="title-rule-9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data-intro">
            <a:extLst xmlns:a="http://schemas.openxmlformats.org/drawingml/2006/main">
              <a:ext uri="{FF2B5EF4-FFF2-40B4-BE49-F238E27FC236}">
                <a16:creationId xmlns:a16="http://schemas.microsoft.com/office/drawing/2014/main" id="{92461705-CDE9-49AA-86DB-F557D762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Fuente técnica: schema.mmd, init.sql y migraciones. La API se documenta en /api-docs.</a:t>
            </a:r>
          </a:p>
        </p:txBody>
      </p:sp>
      <p:graphicFrame>
        <p:nvGraphicFramePr>
          <p:cNvPr id="11" name="domain-table"/>
          <p:cNvGraphicFramePr/>
          <p:nvPr/>
        </p:nvGraphicFramePr>
        <p:xfrm>
          <a:off xmlns:a="http://schemas.openxmlformats.org/drawingml/2006/main" x="400050" y="1924050"/>
          <a:ext xmlns:a="http://schemas.openxmlformats.org/drawingml/2006/main" cx="113919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714750"/>
                <a:gridCol w="2952750"/>
                <a:gridCol w="2571750"/>
              </a:tblGrid>
              <a:tr h="533400">
                <a:tc>
                  <a:txBody>
                    <a:bodyPr/>
                    <a:lstStyle/>
                    <a:p>
                      <a:r>
                        <a:t>Dominio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Datos principales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Proceso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Control</a:t>
                      </a:r>
                    </a:p>
                  </a:txBody>
                  <a:tcPr marL="91440" marR="91440" marT="45720" marB="45720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Identidad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usuarios · sesiones · empleados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acceso y roles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JWT / RBAC</a:t>
                      </a:r>
                    </a:p>
                  </a:txBody>
                  <a:tcPr marL="91440" marR="91440" marT="45720" marB="45720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Catálogo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productos · categorías · precios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consulta y CRUD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validación</a:t>
                      </a:r>
                    </a:p>
                  </a:txBody>
                  <a:tcPr marL="91440" marR="91440" marT="45720" marB="45720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Ventas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pedidos · partidas · reseñas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checkout y POS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transacción</a:t>
                      </a:r>
                    </a:p>
                  </a:txBody>
                  <a:tcPr marL="91440" marR="91440" marT="45720" marB="45720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Abasto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proveedores · órdenes · lotes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recepción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trazabilidad</a:t>
                      </a:r>
                    </a:p>
                  </a:txBody>
                  <a:tcPr marL="91440" marR="91440" marT="45720" marB="45720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Operación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caja · gastos · notificaciones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corte y control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auditoría</a:t>
                      </a:r>
                    </a:p>
                  </a:txBody>
                  <a:tcPr marL="91440" marR="91440" marT="45720" marB="45720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Entrega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zonas · direcciones · tienda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tarifa y cobertura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cálculo servidor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data-note">
            <a:extLst xmlns:a="http://schemas.openxmlformats.org/drawingml/2006/main">
              <a:ext uri="{FF2B5EF4-FFF2-40B4-BE49-F238E27FC236}">
                <a16:creationId xmlns:a16="http://schemas.microsoft.com/office/drawing/2014/main" id="{7BBE37F3-7F30-427C-99B4-FFFD2028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39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Integraciones configurables: Google OAuth · PayPal · Cloudinary · correo</a:t>
            </a:r>
          </a:p>
        </p:txBody>
      </p:sp>
      <p:sp>
        <p:nvSpPr>
          <p:cNvPr id="6" name="revision-9">
            <a:extLst xmlns:a="http://schemas.openxmlformats.org/drawingml/2006/main">
              <a:ext uri="{FF2B5EF4-FFF2-40B4-BE49-F238E27FC236}">
                <a16:creationId xmlns:a16="http://schemas.microsoft.com/office/drawing/2014/main" id="{156DC73B-E370-4134-92A8-4D36806A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b61259d · 16 jul 2026</a:t>
            </a:r>
          </a:p>
        </p:txBody>
      </p:sp>
      <p:sp>
        <p:nvSpPr>
          <p:cNvPr id="7" name="page-9">
            <a:extLst xmlns:a="http://schemas.openxmlformats.org/drawingml/2006/main">
              <a:ext uri="{FF2B5EF4-FFF2-40B4-BE49-F238E27FC236}">
                <a16:creationId xmlns:a16="http://schemas.microsoft.com/office/drawing/2014/main" id="{DDC1D892-14F3-471A-A594-7DEC6966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465442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0">
            <a:extLst xmlns:a="http://schemas.openxmlformats.org/drawingml/2006/main">
              <a:ext uri="{FF2B5EF4-FFF2-40B4-BE49-F238E27FC236}">
                <a16:creationId xmlns:a16="http://schemas.microsoft.com/office/drawing/2014/main" id="{D99441BF-7333-417D-854B-331B0226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El repositorio ordena código, datos y evidencia</a:t>
            </a:r>
          </a:p>
        </p:txBody>
      </p:sp>
      <p:cxnSp>
        <p:nvCxnSpPr>
          <p:cNvPr id="20" name="title-rule-10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repo-url">
            <a:extLst xmlns:a="http://schemas.openxmlformats.org/drawingml/2006/main">
              <a:ext uri="{FF2B5EF4-FFF2-40B4-BE49-F238E27FC236}">
                <a16:creationId xmlns:a16="http://schemas.microsoft.com/office/drawing/2014/main" id="{97B4D6F0-6B8F-43FA-9A23-E2AA4A54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github.com/CHidalgo405/web_integral · rama main</a:t>
            </a:r>
          </a:p>
        </p:txBody>
      </p:sp>
      <p:sp>
        <p:nvSpPr>
          <p:cNvPr id="4" name="repo-front">
            <a:extLst xmlns:a="http://schemas.openxmlformats.org/drawingml/2006/main">
              <a:ext uri="{FF2B5EF4-FFF2-40B4-BE49-F238E27FC236}">
                <a16:creationId xmlns:a16="http://schemas.microsoft.com/office/drawing/2014/main" id="{5B4C99C1-B8C0-4496-9786-FCD40367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334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0"/>
          </a:solidFill>
          <a:ln xmlns:a="http://schemas.openxmlformats.org/drawingml/2006/main" w="9525">
            <a:solidFill>
              <a:srgbClr val="F1F2F0"/>
            </a:solidFill>
            <a:prstDash val="solid"/>
          </a:ln>
        </p:spPr>
      </p:sp>
      <p:sp>
        <p:nvSpPr>
          <p:cNvPr id="5" name="repo-back">
            <a:extLst xmlns:a="http://schemas.openxmlformats.org/drawingml/2006/main">
              <a:ext uri="{FF2B5EF4-FFF2-40B4-BE49-F238E27FC236}">
                <a16:creationId xmlns:a16="http://schemas.microsoft.com/office/drawing/2014/main" id="{DAAF1CA3-E57F-4610-815F-8AC7C24C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90700"/>
            <a:ext cx="57340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0"/>
          </a:solidFill>
          <a:ln xmlns:a="http://schemas.openxmlformats.org/drawingml/2006/main" w="9525">
            <a:solidFill>
              <a:srgbClr val="F1F2F0"/>
            </a:solidFill>
            <a:prstDash val="solid"/>
          </a:ln>
        </p:spPr>
      </p:sp>
      <p:sp>
        <p:nvSpPr>
          <p:cNvPr id="6" name="repo-db">
            <a:extLst xmlns:a="http://schemas.openxmlformats.org/drawingml/2006/main">
              <a:ext uri="{FF2B5EF4-FFF2-40B4-BE49-F238E27FC236}">
                <a16:creationId xmlns:a16="http://schemas.microsoft.com/office/drawing/2014/main" id="{44F0269B-A86D-46E8-AF6A-C49115BA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0"/>
          </a:solidFill>
          <a:ln xmlns:a="http://schemas.openxmlformats.org/drawingml/2006/main" w="9525">
            <a:solidFill>
              <a:srgbClr val="F1F2F0"/>
            </a:solidFill>
            <a:prstDash val="solid"/>
          </a:ln>
        </p:spPr>
      </p:sp>
      <p:sp>
        <p:nvSpPr>
          <p:cNvPr id="7" name="repo-docs">
            <a:extLst xmlns:a="http://schemas.openxmlformats.org/drawingml/2006/main">
              <a:ext uri="{FF2B5EF4-FFF2-40B4-BE49-F238E27FC236}">
                <a16:creationId xmlns:a16="http://schemas.microsoft.com/office/drawing/2014/main" id="{D8EC69EA-5CE4-404C-874D-1B60D28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14750"/>
            <a:ext cx="57340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0"/>
          </a:solidFill>
          <a:ln xmlns:a="http://schemas.openxmlformats.org/drawingml/2006/main" w="9525">
            <a:solidFill>
              <a:srgbClr val="F1F2F0"/>
            </a:solidFill>
            <a:prstDash val="solid"/>
          </a:ln>
        </p:spPr>
      </p:sp>
      <p:sp>
        <p:nvSpPr>
          <p:cNvPr id="8" name="repo-front-title">
            <a:extLst xmlns:a="http://schemas.openxmlformats.org/drawingml/2006/main">
              <a:ext uri="{FF2B5EF4-FFF2-40B4-BE49-F238E27FC236}">
                <a16:creationId xmlns:a16="http://schemas.microsoft.com/office/drawing/2014/main" id="{2119BD24-09DE-4DF3-AE29-DEBF463E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76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Arquitectura/FrontEnd</a:t>
            </a:r>
          </a:p>
        </p:txBody>
      </p:sp>
      <p:sp>
        <p:nvSpPr>
          <p:cNvPr id="9" name="repo-front-body">
            <a:extLst xmlns:a="http://schemas.openxmlformats.org/drawingml/2006/main">
              <a:ext uri="{FF2B5EF4-FFF2-40B4-BE49-F238E27FC236}">
                <a16:creationId xmlns:a16="http://schemas.microsoft.com/office/drawing/2014/main" id="{0421F48D-81D8-4C28-ABCF-07EFEB4B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Angular · PWA · vistas por rol · pruebas/specs</a:t>
            </a:r>
          </a:p>
        </p:txBody>
      </p:sp>
      <p:sp>
        <p:nvSpPr>
          <p:cNvPr id="10" name="repo-back-title">
            <a:extLst xmlns:a="http://schemas.openxmlformats.org/drawingml/2006/main">
              <a:ext uri="{FF2B5EF4-FFF2-40B4-BE49-F238E27FC236}">
                <a16:creationId xmlns:a16="http://schemas.microsoft.com/office/drawing/2014/main" id="{34A6210F-58EF-4753-9BF9-25AD6D00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38350"/>
            <a:ext cx="514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Arquitectura/Backend</a:t>
            </a:r>
          </a:p>
        </p:txBody>
      </p:sp>
      <p:sp>
        <p:nvSpPr>
          <p:cNvPr id="11" name="repo-back-body">
            <a:extLst xmlns:a="http://schemas.openxmlformats.org/drawingml/2006/main">
              <a:ext uri="{FF2B5EF4-FFF2-40B4-BE49-F238E27FC236}">
                <a16:creationId xmlns:a16="http://schemas.microsoft.com/office/drawing/2014/main" id="{8C628EC5-2C9C-4E9C-9A6D-CA244D4D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52700"/>
            <a:ext cx="5143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Express · servicios · rutas · migrador · pruebas Node</a:t>
            </a:r>
          </a:p>
        </p:txBody>
      </p:sp>
      <p:sp>
        <p:nvSpPr>
          <p:cNvPr id="12" name="repo-db-title">
            <a:extLst xmlns:a="http://schemas.openxmlformats.org/drawingml/2006/main">
              <a:ext uri="{FF2B5EF4-FFF2-40B4-BE49-F238E27FC236}">
                <a16:creationId xmlns:a16="http://schemas.microsoft.com/office/drawing/2014/main" id="{DF170528-652C-462C-B258-7A3C12F6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476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Arquitectura/Database</a:t>
            </a:r>
          </a:p>
        </p:txBody>
      </p:sp>
      <p:sp>
        <p:nvSpPr>
          <p:cNvPr id="13" name="repo-db-body">
            <a:extLst xmlns:a="http://schemas.openxmlformats.org/drawingml/2006/main">
              <a:ext uri="{FF2B5EF4-FFF2-40B4-BE49-F238E27FC236}">
                <a16:creationId xmlns:a16="http://schemas.microsoft.com/office/drawing/2014/main" id="{169FFB16-6CAB-40B1-BCBD-BD79D8A2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init.sql · schema.mmd · migraciones reproducibles</a:t>
            </a:r>
          </a:p>
        </p:txBody>
      </p:sp>
      <p:sp>
        <p:nvSpPr>
          <p:cNvPr id="14" name="repo-docs-title">
            <a:extLst xmlns:a="http://schemas.openxmlformats.org/drawingml/2006/main">
              <a:ext uri="{FF2B5EF4-FFF2-40B4-BE49-F238E27FC236}">
                <a16:creationId xmlns:a16="http://schemas.microsoft.com/office/drawing/2014/main" id="{4FD9D56F-4D4B-4856-88FB-40C7680A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62400"/>
            <a:ext cx="514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Entregables y Metodología</a:t>
            </a:r>
          </a:p>
        </p:txBody>
      </p:sp>
      <p:sp>
        <p:nvSpPr>
          <p:cNvPr id="15" name="repo-docs-body">
            <a:extLst xmlns:a="http://schemas.openxmlformats.org/drawingml/2006/main">
              <a:ext uri="{FF2B5EF4-FFF2-40B4-BE49-F238E27FC236}">
                <a16:creationId xmlns:a16="http://schemas.microsoft.com/office/drawing/2014/main" id="{59CF5ECC-76D7-4048-95B6-C7804FAC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76750"/>
            <a:ext cx="5143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PDF/PPTX finales · fuentes · capturas · referencias históricas</a:t>
            </a:r>
          </a:p>
        </p:txBody>
      </p:sp>
      <p:sp>
        <p:nvSpPr>
          <p:cNvPr id="16" name="repo-note">
            <a:extLst xmlns:a="http://schemas.openxmlformats.org/drawingml/2006/main">
              <a:ext uri="{FF2B5EF4-FFF2-40B4-BE49-F238E27FC236}">
                <a16:creationId xmlns:a16="http://schemas.microsoft.com/office/drawing/2014/main" id="{5D7179D9-23EE-46A0-8BE8-DFA0C203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Cada entregable nuevo se publica en un commit independiente y se sincroniza antes de continuar.</a:t>
            </a:r>
          </a:p>
        </p:txBody>
      </p:sp>
      <p:sp>
        <p:nvSpPr>
          <p:cNvPr id="17" name="revision-10">
            <a:extLst xmlns:a="http://schemas.openxmlformats.org/drawingml/2006/main">
              <a:ext uri="{FF2B5EF4-FFF2-40B4-BE49-F238E27FC236}">
                <a16:creationId xmlns:a16="http://schemas.microsoft.com/office/drawing/2014/main" id="{EA5D54A4-5BE4-40E9-8856-6A7C7160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b61259d · 16 jul 2026</a:t>
            </a:r>
          </a:p>
        </p:txBody>
      </p:sp>
      <p:sp>
        <p:nvSpPr>
          <p:cNvPr id="18" name="page-10">
            <a:extLst xmlns:a="http://schemas.openxmlformats.org/drawingml/2006/main">
              <a:ext uri="{FF2B5EF4-FFF2-40B4-BE49-F238E27FC236}">
                <a16:creationId xmlns:a16="http://schemas.microsoft.com/office/drawing/2014/main" id="{77B67763-2CB0-4E1B-A84D-E9B4741A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711948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1">
            <a:extLst xmlns:a="http://schemas.openxmlformats.org/drawingml/2006/main">
              <a:ext uri="{FF2B5EF4-FFF2-40B4-BE49-F238E27FC236}">
                <a16:creationId xmlns:a16="http://schemas.microsoft.com/office/drawing/2014/main" id="{B6BDDE47-3498-4636-AE55-BA931AB3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Git aporta evidencia cuantificable de participación</a:t>
            </a:r>
          </a:p>
        </p:txBody>
      </p:sp>
      <p:cxnSp>
        <p:nvCxnSpPr>
          <p:cNvPr id="17" name="title-rule-11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git-callout-1">
            <a:extLst xmlns:a="http://schemas.openxmlformats.org/drawingml/2006/main">
              <a:ext uri="{FF2B5EF4-FFF2-40B4-BE49-F238E27FC236}">
                <a16:creationId xmlns:a16="http://schemas.microsoft.com/office/drawing/2014/main" id="{FF473D5B-E026-4096-8886-C2860DCD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447800"/>
            <a:ext cx="3429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F0E9"/>
          </a:solidFill>
          <a:ln xmlns:a="http://schemas.openxmlformats.org/drawingml/2006/main" w="9525">
            <a:solidFill>
              <a:srgbClr val="E7F0E9"/>
            </a:solidFill>
            <a:prstDash val="solid"/>
          </a:ln>
        </p:spPr>
      </p:sp>
      <p:sp>
        <p:nvSpPr>
          <p:cNvPr id="4" name="git-callout-2">
            <a:extLst xmlns:a="http://schemas.openxmlformats.org/drawingml/2006/main">
              <a:ext uri="{FF2B5EF4-FFF2-40B4-BE49-F238E27FC236}">
                <a16:creationId xmlns:a16="http://schemas.microsoft.com/office/drawing/2014/main" id="{7FC332AB-5F0D-441F-8EA3-7A345032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52750"/>
            <a:ext cx="3429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1F2F0"/>
          </a:solidFill>
          <a:ln xmlns:a="http://schemas.openxmlformats.org/drawingml/2006/main" w="9525">
            <a:solidFill>
              <a:srgbClr val="F1F2F0"/>
            </a:solidFill>
            <a:prstDash val="solid"/>
          </a:ln>
        </p:spPr>
      </p:sp>
      <p:sp>
        <p:nvSpPr>
          <p:cNvPr id="5" name="git-callout-3">
            <a:extLst xmlns:a="http://schemas.openxmlformats.org/drawingml/2006/main">
              <a:ext uri="{FF2B5EF4-FFF2-40B4-BE49-F238E27FC236}">
                <a16:creationId xmlns:a16="http://schemas.microsoft.com/office/drawing/2014/main" id="{F43E5D17-30CD-4019-A17B-734CC90F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57700"/>
            <a:ext cx="3429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8E8E4"/>
          </a:solidFill>
          <a:ln xmlns:a="http://schemas.openxmlformats.org/drawingml/2006/main" w="9525">
            <a:solidFill>
              <a:srgbClr val="F8E8E4"/>
            </a:solidFill>
            <a:prstDash val="solid"/>
          </a:ln>
        </p:spPr>
      </p:sp>
      <p:sp>
        <p:nvSpPr>
          <p:cNvPr id="6" name="git-c1-title">
            <a:extLst xmlns:a="http://schemas.openxmlformats.org/drawingml/2006/main">
              <a:ext uri="{FF2B5EF4-FFF2-40B4-BE49-F238E27FC236}">
                <a16:creationId xmlns:a16="http://schemas.microsoft.com/office/drawing/2014/main" id="{B6139224-EA17-4B4C-971A-447508F4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7640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Carlos · 69</a:t>
            </a:r>
          </a:p>
        </p:txBody>
      </p:sp>
      <p:sp>
        <p:nvSpPr>
          <p:cNvPr id="7" name="git-c1-body">
            <a:extLst xmlns:a="http://schemas.openxmlformats.org/drawingml/2006/main">
              <a:ext uri="{FF2B5EF4-FFF2-40B4-BE49-F238E27FC236}">
                <a16:creationId xmlns:a16="http://schemas.microsoft.com/office/drawing/2014/main" id="{ACB0C765-9298-4706-809D-16E1579A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33600"/>
            <a:ext cx="2857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Identidades normalizadas en todas las referencias alcanzables.</a:t>
            </a:r>
          </a:p>
        </p:txBody>
      </p:sp>
      <p:sp>
        <p:nvSpPr>
          <p:cNvPr id="8" name="git-c2-title">
            <a:extLst xmlns:a="http://schemas.openxmlformats.org/drawingml/2006/main">
              <a:ext uri="{FF2B5EF4-FFF2-40B4-BE49-F238E27FC236}">
                <a16:creationId xmlns:a16="http://schemas.microsoft.com/office/drawing/2014/main" id="{3FE8D590-A903-41A2-9B29-0EA81F32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813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Kevin · 38</a:t>
            </a:r>
          </a:p>
        </p:txBody>
      </p:sp>
      <p:sp>
        <p:nvSpPr>
          <p:cNvPr id="9" name="git-c2-body">
            <a:extLst xmlns:a="http://schemas.openxmlformats.org/drawingml/2006/main">
              <a:ext uri="{FF2B5EF4-FFF2-40B4-BE49-F238E27FC236}">
                <a16:creationId xmlns:a16="http://schemas.microsoft.com/office/drawing/2014/main" id="{6AD1D6FE-1E58-45AF-88E6-CD7A1A3D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38550"/>
            <a:ext cx="2857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La gráfica incluye también al resto de autores detectados.</a:t>
            </a:r>
          </a:p>
        </p:txBody>
      </p:sp>
      <p:sp>
        <p:nvSpPr>
          <p:cNvPr id="10" name="git-c3-title">
            <a:extLst xmlns:a="http://schemas.openxmlformats.org/drawingml/2006/main">
              <a:ext uri="{FF2B5EF4-FFF2-40B4-BE49-F238E27FC236}">
                <a16:creationId xmlns:a16="http://schemas.microsoft.com/office/drawing/2014/main" id="{99A85064-D9D4-4989-B6B7-D6C5035F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8630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pPr>
            <a:r>
              <a:t>Adán · 0 identificado</a:t>
            </a:r>
          </a:p>
        </p:txBody>
      </p:sp>
      <p:sp>
        <p:nvSpPr>
          <p:cNvPr id="11" name="git-c3-body">
            <a:extLst xmlns:a="http://schemas.openxmlformats.org/drawingml/2006/main">
              <a:ext uri="{FF2B5EF4-FFF2-40B4-BE49-F238E27FC236}">
                <a16:creationId xmlns:a16="http://schemas.microsoft.com/office/drawing/2014/main" id="{E3D68AA2-4AC8-411C-9503-31B37999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43500"/>
            <a:ext cx="2857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Falta confirmar usuario, correo o evidencia externa antes de atribuir trabajo.</a:t>
            </a:r>
          </a:p>
        </p:txBody>
      </p:sp>
      <p:sp>
        <p:nvSpPr>
          <p:cNvPr id="12" name="git-source">
            <a:extLst xmlns:a="http://schemas.openxmlformats.org/drawingml/2006/main">
              <a:ext uri="{FF2B5EF4-FFF2-40B4-BE49-F238E27FC236}">
                <a16:creationId xmlns:a16="http://schemas.microsoft.com/office/drawing/2014/main" id="{9AE1E9B1-6D0C-4F04-B846-5EC6DF6E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762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Fuente: git log --all en la revisión b61259d · 212 commits normalizados</a:t>
            </a:r>
          </a:p>
        </p:txBody>
      </p:sp>
      <p:sp>
        <p:nvSpPr>
          <p:cNvPr id="13" name="revision-11">
            <a:extLst xmlns:a="http://schemas.openxmlformats.org/drawingml/2006/main">
              <a:ext uri="{FF2B5EF4-FFF2-40B4-BE49-F238E27FC236}">
                <a16:creationId xmlns:a16="http://schemas.microsoft.com/office/drawing/2014/main" id="{69752128-EA79-4AEF-8E20-6793ABFD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b61259d · 16 jul 2026</a:t>
            </a:r>
          </a:p>
        </p:txBody>
      </p:sp>
      <p:sp>
        <p:nvSpPr>
          <p:cNvPr id="14" name="page-11">
            <a:extLst xmlns:a="http://schemas.openxmlformats.org/drawingml/2006/main">
              <a:ext uri="{FF2B5EF4-FFF2-40B4-BE49-F238E27FC236}">
                <a16:creationId xmlns:a16="http://schemas.microsoft.com/office/drawing/2014/main" id="{004E6AD5-1142-49DB-958B-7A948D47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7429500" cy="4248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ab483969eb4c9e"/>
          </a:graphicData>
        </a:graphic>
      </p:graphicFrame>
    </p:spTree>
    <p:extLst>
      <p:ext uri="{BB962C8B-B14F-4D97-AF65-F5344CB8AC3E}">
        <p14:creationId xmlns:p14="http://schemas.microsoft.com/office/powerpoint/2010/main" val="4570789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12">
            <a:extLst xmlns:a="http://schemas.openxmlformats.org/drawingml/2006/main">
              <a:ext uri="{FF2B5EF4-FFF2-40B4-BE49-F238E27FC236}">
                <a16:creationId xmlns:a16="http://schemas.microsoft.com/office/drawing/2014/main" id="{917890D9-4463-457F-8D4B-E1C2C7CD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36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La evidencia respalda una aceptación condicionada, no ciega</a:t>
            </a:r>
          </a:p>
        </p:txBody>
      </p:sp>
      <p:cxnSp>
        <p:nvCxnSpPr>
          <p:cNvPr id="18" name="title-rule-12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test-intro">
            <a:extLst xmlns:a="http://schemas.openxmlformats.org/drawingml/2006/main">
              <a:ext uri="{FF2B5EF4-FFF2-40B4-BE49-F238E27FC236}">
                <a16:creationId xmlns:a16="http://schemas.microsoft.com/office/drawing/2014/main" id="{1CF07DF8-5854-4F05-84F9-B4A204EA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Resultados ejecutados sobre la revisión 123372c; los documentos posteriores no cambiaron la aplicación.</a:t>
            </a:r>
          </a:p>
        </p:txBody>
      </p:sp>
      <p:sp>
        <p:nvSpPr>
          <p:cNvPr id="4" name="test-card-1">
            <a:extLst xmlns:a="http://schemas.openxmlformats.org/drawingml/2006/main">
              <a:ext uri="{FF2B5EF4-FFF2-40B4-BE49-F238E27FC236}">
                <a16:creationId xmlns:a16="http://schemas.microsoft.com/office/drawing/2014/main" id="{9BFD196C-B398-4C0D-8550-556DDD4A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35623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7F0E9"/>
          </a:solidFill>
          <a:ln xmlns:a="http://schemas.openxmlformats.org/drawingml/2006/main" w="9525">
            <a:solidFill>
              <a:srgbClr val="E7F0E9"/>
            </a:solidFill>
            <a:prstDash val="solid"/>
          </a:ln>
        </p:spPr>
      </p:sp>
      <p:sp>
        <p:nvSpPr>
          <p:cNvPr id="5" name="test-card-2">
            <a:extLst xmlns:a="http://schemas.openxmlformats.org/drawingml/2006/main">
              <a:ext uri="{FF2B5EF4-FFF2-40B4-BE49-F238E27FC236}">
                <a16:creationId xmlns:a16="http://schemas.microsoft.com/office/drawing/2014/main" id="{94153725-6701-47D4-A88B-AB2C3E2E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33600"/>
            <a:ext cx="35623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FFF1D8"/>
            </a:solidFill>
            <a:prstDash val="solid"/>
          </a:ln>
        </p:spPr>
      </p:sp>
      <p:sp>
        <p:nvSpPr>
          <p:cNvPr id="6" name="test-card-3">
            <a:extLst xmlns:a="http://schemas.openxmlformats.org/drawingml/2006/main">
              <a:ext uri="{FF2B5EF4-FFF2-40B4-BE49-F238E27FC236}">
                <a16:creationId xmlns:a16="http://schemas.microsoft.com/office/drawing/2014/main" id="{5D2D4555-8B89-448F-929E-1569967D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33600"/>
            <a:ext cx="35623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7" name="test-stat-1">
            <a:extLst xmlns:a="http://schemas.openxmlformats.org/drawingml/2006/main">
              <a:ext uri="{FF2B5EF4-FFF2-40B4-BE49-F238E27FC236}">
                <a16:creationId xmlns:a16="http://schemas.microsoft.com/office/drawing/2014/main" id="{0E0ACB3D-3A81-4983-B66B-4D57452F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29146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19</a:t>
            </a:r>
          </a:p>
        </p:txBody>
      </p:sp>
      <p:sp>
        <p:nvSpPr>
          <p:cNvPr id="8" name="test-body-1">
            <a:extLst xmlns:a="http://schemas.openxmlformats.org/drawingml/2006/main">
              <a:ext uri="{FF2B5EF4-FFF2-40B4-BE49-F238E27FC236}">
                <a16:creationId xmlns:a16="http://schemas.microsoft.com/office/drawing/2014/main" id="{F5C2F44E-F8FE-415D-AA6C-77155EDB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9146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pruebas backend aprobadas
0 fallidas</a:t>
            </a:r>
          </a:p>
        </p:txBody>
      </p:sp>
      <p:sp>
        <p:nvSpPr>
          <p:cNvPr id="9" name="test-stat-2">
            <a:extLst xmlns:a="http://schemas.openxmlformats.org/drawingml/2006/main">
              <a:ext uri="{FF2B5EF4-FFF2-40B4-BE49-F238E27FC236}">
                <a16:creationId xmlns:a16="http://schemas.microsoft.com/office/drawing/2014/main" id="{206D1D77-92DE-4E54-BACB-2AA76190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29146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0A51B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0" name="test-body-2">
            <a:extLst xmlns:a="http://schemas.openxmlformats.org/drawingml/2006/main">
              <a:ext uri="{FF2B5EF4-FFF2-40B4-BE49-F238E27FC236}">
                <a16:creationId xmlns:a16="http://schemas.microsoft.com/office/drawing/2014/main" id="{3C8D854B-E0AD-4779-B98C-E82AFA92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29146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integraciones omitidas
POS e inventario</a:t>
            </a:r>
          </a:p>
        </p:txBody>
      </p:sp>
      <p:sp>
        <p:nvSpPr>
          <p:cNvPr id="11" name="test-stat-3">
            <a:extLst xmlns:a="http://schemas.openxmlformats.org/drawingml/2006/main">
              <a:ext uri="{FF2B5EF4-FFF2-40B4-BE49-F238E27FC236}">
                <a16:creationId xmlns:a16="http://schemas.microsoft.com/office/drawing/2014/main" id="{7ED20EB5-2737-47DB-BE95-697901DD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28900"/>
            <a:ext cx="29146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3.858 s</a:t>
            </a:r>
          </a:p>
        </p:txBody>
      </p:sp>
      <p:sp>
        <p:nvSpPr>
          <p:cNvPr id="12" name="test-body-3">
            <a:extLst xmlns:a="http://schemas.openxmlformats.org/drawingml/2006/main">
              <a:ext uri="{FF2B5EF4-FFF2-40B4-BE49-F238E27FC236}">
                <a16:creationId xmlns:a16="http://schemas.microsoft.com/office/drawing/2014/main" id="{7CACF93C-C73B-4774-B2CE-DABB7BDC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38550"/>
            <a:ext cx="29146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build frontend aprobado
con advertencias</a:t>
            </a:r>
          </a:p>
        </p:txBody>
      </p:sp>
      <p:sp>
        <p:nvSpPr>
          <p:cNvPr id="13" name="test-warning">
            <a:extLst xmlns:a="http://schemas.openxmlformats.org/drawingml/2006/main">
              <a:ext uri="{FF2B5EF4-FFF2-40B4-BE49-F238E27FC236}">
                <a16:creationId xmlns:a16="http://schemas.microsoft.com/office/drawing/2014/main" id="{E085A7AB-75DA-452A-9ADD-B6DC3E4E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1391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E8E4"/>
          </a:solidFill>
          <a:ln xmlns:a="http://schemas.openxmlformats.org/drawingml/2006/main" w="9525">
            <a:solidFill>
              <a:srgbClr val="F8E8E4"/>
            </a:solidFill>
            <a:prstDash val="solid"/>
          </a:ln>
        </p:spPr>
      </p:sp>
      <p:sp>
        <p:nvSpPr>
          <p:cNvPr id="14" name="test-warning-text">
            <a:extLst xmlns:a="http://schemas.openxmlformats.org/drawingml/2006/main">
              <a:ext uri="{FF2B5EF4-FFF2-40B4-BE49-F238E27FC236}">
                <a16:creationId xmlns:a16="http://schemas.microsoft.com/office/drawing/2014/main" id="{E915F281-8824-4AD3-8646-D2D815E1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pPr>
            <a:r>
              <a:t>Brechas abiertas: Vitest no encuentra pruebas frontend · restauración no ejecutada · integraciones finales pendientes.
Evidencia manual: cinco roles y 25 capturas.</a:t>
            </a:r>
          </a:p>
        </p:txBody>
      </p:sp>
      <p:sp>
        <p:nvSpPr>
          <p:cNvPr id="15" name="revision-12">
            <a:extLst xmlns:a="http://schemas.openxmlformats.org/drawingml/2006/main">
              <a:ext uri="{FF2B5EF4-FFF2-40B4-BE49-F238E27FC236}">
                <a16:creationId xmlns:a16="http://schemas.microsoft.com/office/drawing/2014/main" id="{F2EC7793-2CFD-4227-A5F2-157ACCC2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b61259d · 16 jul 2026</a:t>
            </a:r>
          </a:p>
        </p:txBody>
      </p:sp>
      <p:sp>
        <p:nvSpPr>
          <p:cNvPr id="16" name="page-12">
            <a:extLst xmlns:a="http://schemas.openxmlformats.org/drawingml/2006/main">
              <a:ext uri="{FF2B5EF4-FFF2-40B4-BE49-F238E27FC236}">
                <a16:creationId xmlns:a16="http://schemas.microsoft.com/office/drawing/2014/main" id="{D8FD6EF5-8CAC-4A2F-B7DA-CD873E1C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350069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13">
            <a:extLst xmlns:a="http://schemas.openxmlformats.org/drawingml/2006/main">
              <a:ext uri="{FF2B5EF4-FFF2-40B4-BE49-F238E27FC236}">
                <a16:creationId xmlns:a16="http://schemas.microsoft.com/office/drawing/2014/main" id="{6CCDA0A0-0ED1-4BDE-8FF0-FD838AD0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Objetivos cumplidos; producción aún condicionada</a:t>
            </a:r>
          </a:p>
        </p:txBody>
      </p:sp>
      <p:cxnSp>
        <p:nvCxnSpPr>
          <p:cNvPr id="14" name="title-rule-13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objective-intro">
            <a:extLst xmlns:a="http://schemas.openxmlformats.org/drawingml/2006/main">
              <a:ext uri="{FF2B5EF4-FFF2-40B4-BE49-F238E27FC236}">
                <a16:creationId xmlns:a16="http://schemas.microsoft.com/office/drawing/2014/main" id="{6706469F-15F7-4C4D-B002-B5D23A82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El sistema ya demuestra valor funcional. La firma debe separar claramente lo entregado de lo que aún requiere cierre.</a:t>
            </a:r>
          </a:p>
        </p:txBody>
      </p:sp>
      <p:sp>
        <p:nvSpPr>
          <p:cNvPr id="4" name="objective-done">
            <a:extLst xmlns:a="http://schemas.openxmlformats.org/drawingml/2006/main">
              <a:ext uri="{FF2B5EF4-FFF2-40B4-BE49-F238E27FC236}">
                <a16:creationId xmlns:a16="http://schemas.microsoft.com/office/drawing/2014/main" id="{91454351-02AD-434C-92E5-D9F89736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54483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7F0E9"/>
          </a:solidFill>
          <a:ln xmlns:a="http://schemas.openxmlformats.org/drawingml/2006/main" w="9525">
            <a:solidFill>
              <a:srgbClr val="E7F0E9"/>
            </a:solidFill>
            <a:prstDash val="solid"/>
          </a:ln>
        </p:spPr>
      </p:sp>
      <p:sp>
        <p:nvSpPr>
          <p:cNvPr id="5" name="objective-open">
            <a:extLst xmlns:a="http://schemas.openxmlformats.org/drawingml/2006/main">
              <a:ext uri="{FF2B5EF4-FFF2-40B4-BE49-F238E27FC236}">
                <a16:creationId xmlns:a16="http://schemas.microsoft.com/office/drawing/2014/main" id="{1297D518-81F0-4826-A48E-9D32C35C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54483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8E8E4"/>
          </a:solidFill>
          <a:ln xmlns:a="http://schemas.openxmlformats.org/drawingml/2006/main" w="9525">
            <a:solidFill>
              <a:srgbClr val="F8E8E4"/>
            </a:solidFill>
            <a:prstDash val="solid"/>
          </a:ln>
        </p:spPr>
      </p:sp>
      <p:sp>
        <p:nvSpPr>
          <p:cNvPr id="6" name="objective-done-title">
            <a:extLst xmlns:a="http://schemas.openxmlformats.org/drawingml/2006/main">
              <a:ext uri="{FF2B5EF4-FFF2-40B4-BE49-F238E27FC236}">
                <a16:creationId xmlns:a16="http://schemas.microsoft.com/office/drawing/2014/main" id="{8C813E9E-E2FD-4574-9CF5-F21EC9A7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476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Cumplido y demostrable</a:t>
            </a:r>
          </a:p>
        </p:txBody>
      </p:sp>
      <p:sp>
        <p:nvSpPr>
          <p:cNvPr id="7" name="objective-done-body">
            <a:extLst xmlns:a="http://schemas.openxmlformats.org/drawingml/2006/main">
              <a:ext uri="{FF2B5EF4-FFF2-40B4-BE49-F238E27FC236}">
                <a16:creationId xmlns:a16="http://schemas.microsoft.com/office/drawing/2014/main" id="{9FAB9ABD-EC3A-44AC-9D68-D8590834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476250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• Cinco roles y flujos principales
• CRUD, reportes y validaciones
• API, PostgreSQL e integraciones configurables
• Evidencia visual, Git y documentación</a:t>
            </a:r>
          </a:p>
        </p:txBody>
      </p:sp>
      <p:sp>
        <p:nvSpPr>
          <p:cNvPr id="8" name="objective-open-title">
            <a:extLst xmlns:a="http://schemas.openxmlformats.org/drawingml/2006/main">
              <a:ext uri="{FF2B5EF4-FFF2-40B4-BE49-F238E27FC236}">
                <a16:creationId xmlns:a16="http://schemas.microsoft.com/office/drawing/2014/main" id="{8CDAFFFA-B651-4C68-9AAE-EE006D7F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28900"/>
            <a:ext cx="476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84A3A"/>
                </a:solidFill>
                <a:latin typeface="Arial"/>
                <a:ea typeface="Arial"/>
                <a:cs typeface="Arial"/>
              </a:defRPr>
            </a:pPr>
            <a:r>
              <a:t>Pendiente antes de producción</a:t>
            </a:r>
          </a:p>
        </p:txBody>
      </p:sp>
      <p:sp>
        <p:nvSpPr>
          <p:cNvPr id="9" name="objective-open-body">
            <a:extLst xmlns:a="http://schemas.openxmlformats.org/drawingml/2006/main">
              <a:ext uri="{FF2B5EF4-FFF2-40B4-BE49-F238E27FC236}">
                <a16:creationId xmlns:a16="http://schemas.microsoft.com/office/drawing/2014/main" id="{686E11B6-9856-4126-B051-87362B7F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00400"/>
            <a:ext cx="476250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• Suite frontend ejecutable
• POS/inventario sobre bases aisladas
• Restauración con evidencia
• Proveedores, marca y ambiente definitivo</a:t>
            </a:r>
          </a:p>
        </p:txBody>
      </p:sp>
      <p:sp>
        <p:nvSpPr>
          <p:cNvPr id="10" name="objective-benefit">
            <a:extLst xmlns:a="http://schemas.openxmlformats.org/drawingml/2006/main">
              <a:ext uri="{FF2B5EF4-FFF2-40B4-BE49-F238E27FC236}">
                <a16:creationId xmlns:a16="http://schemas.microsoft.com/office/drawing/2014/main" id="{859F6ED0-E365-415B-8F61-AEB895F2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11391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Beneficio: una sola fuente de verdad para venta, existencias, pedidos, caja y decisiones administrativas.</a:t>
            </a:r>
          </a:p>
        </p:txBody>
      </p:sp>
      <p:sp>
        <p:nvSpPr>
          <p:cNvPr id="11" name="revision-13">
            <a:extLst xmlns:a="http://schemas.openxmlformats.org/drawingml/2006/main">
              <a:ext uri="{FF2B5EF4-FFF2-40B4-BE49-F238E27FC236}">
                <a16:creationId xmlns:a16="http://schemas.microsoft.com/office/drawing/2014/main" id="{DACECD65-9DF6-4499-A8B6-52786169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b61259d · 16 jul 2026</a:t>
            </a:r>
          </a:p>
        </p:txBody>
      </p:sp>
      <p:sp>
        <p:nvSpPr>
          <p:cNvPr id="12" name="page-13">
            <a:extLst xmlns:a="http://schemas.openxmlformats.org/drawingml/2006/main">
              <a:ext uri="{FF2B5EF4-FFF2-40B4-BE49-F238E27FC236}">
                <a16:creationId xmlns:a16="http://schemas.microsoft.com/office/drawing/2014/main" id="{83ED6FC8-A0B9-4844-8D33-A53FE78A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736478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14">
            <a:extLst xmlns:a="http://schemas.openxmlformats.org/drawingml/2006/main">
              <a:ext uri="{FF2B5EF4-FFF2-40B4-BE49-F238E27FC236}">
                <a16:creationId xmlns:a16="http://schemas.microsoft.com/office/drawing/2014/main" id="{D864EE39-356D-4E7A-9CA7-E3BA01E3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Cada problema tiene una respuesta técnica concreta</a:t>
            </a:r>
          </a:p>
        </p:txBody>
      </p:sp>
      <p:cxnSp>
        <p:nvCxnSpPr>
          <p:cNvPr id="9" name="title-rule-14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issues-intro">
            <a:extLst xmlns:a="http://schemas.openxmlformats.org/drawingml/2006/main">
              <a:ext uri="{FF2B5EF4-FFF2-40B4-BE49-F238E27FC236}">
                <a16:creationId xmlns:a16="http://schemas.microsoft.com/office/drawing/2014/main" id="{44EFBE6A-37BA-4EE5-99DB-31DC6AC1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Las correcciones se verifican con commit, prueba o recorrido; una corrección no se considera cerrada sin evidencia.</a:t>
            </a:r>
          </a:p>
        </p:txBody>
      </p:sp>
      <p:graphicFrame>
        <p:nvGraphicFramePr>
          <p:cNvPr id="11" name="issues-table"/>
          <p:cNvGraphicFramePr/>
          <p:nvPr/>
        </p:nvGraphicFramePr>
        <p:xfrm>
          <a:off xmlns:a="http://schemas.openxmlformats.org/drawingml/2006/main" x="400050" y="2057400"/>
          <a:ext xmlns:a="http://schemas.openxmlformats.org/drawingml/2006/main" cx="113919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4238625"/>
                <a:gridCol w="2095500"/>
                <a:gridCol w="1524000"/>
              </a:tblGrid>
              <a:tr h="539750">
                <a:tc>
                  <a:txBody>
                    <a:bodyPr/>
                    <a:lstStyle/>
                    <a:p>
                      <a:r>
                        <a:t>Problema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Respuesta implementada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Evidencia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Estado</a:t>
                      </a:r>
                    </a:p>
                  </a:txBody>
                  <a:tcPr marL="91440" marR="91440" marT="45720" marB="45720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OTP generado en cliente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Código controlado por backend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c71594e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Corregido</a:t>
                      </a:r>
                    </a:p>
                  </a:txBody>
                  <a:tcPr marL="91440" marR="91440" marT="45720" marB="45720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Registro poco validado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Validación en formulario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73f0610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Corregido</a:t>
                      </a:r>
                    </a:p>
                  </a:txBody>
                  <a:tcPr marL="91440" marR="91440" marT="45720" marB="45720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Totales manipulables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Servidor recalcula checkout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9c74895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Corregido</a:t>
                      </a:r>
                    </a:p>
                  </a:txBody>
                  <a:tcPr marL="91440" marR="91440" marT="45720" marB="45720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Merges de inventario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Trazabilidad preservada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b22d115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Corregido</a:t>
                      </a:r>
                    </a:p>
                  </a:txBody>
                  <a:tcPr marL="91440" marR="91440" marT="45720" marB="45720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Pruebas/restore pendientes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Plan y criterio documentado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Reporte 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Abierto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issues-note">
            <a:extLst xmlns:a="http://schemas.openxmlformats.org/drawingml/2006/main">
              <a:ext uri="{FF2B5EF4-FFF2-40B4-BE49-F238E27FC236}">
                <a16:creationId xmlns:a16="http://schemas.microsoft.com/office/drawing/2014/main" id="{77A7090E-CE0E-435B-8239-820978A4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Mejora aplicada durante esta entrega: documentación reproducible, diagramas actualizados y evidencia de participación normalizada.</a:t>
            </a:r>
          </a:p>
        </p:txBody>
      </p:sp>
      <p:sp>
        <p:nvSpPr>
          <p:cNvPr id="6" name="revision-14">
            <a:extLst xmlns:a="http://schemas.openxmlformats.org/drawingml/2006/main">
              <a:ext uri="{FF2B5EF4-FFF2-40B4-BE49-F238E27FC236}">
                <a16:creationId xmlns:a16="http://schemas.microsoft.com/office/drawing/2014/main" id="{0D28D091-FF7E-4443-BAD0-EB930483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b61259d · 16 jul 2026</a:t>
            </a:r>
          </a:p>
        </p:txBody>
      </p:sp>
      <p:sp>
        <p:nvSpPr>
          <p:cNvPr id="7" name="page-14">
            <a:extLst xmlns:a="http://schemas.openxmlformats.org/drawingml/2006/main">
              <a:ext uri="{FF2B5EF4-FFF2-40B4-BE49-F238E27FC236}">
                <a16:creationId xmlns:a16="http://schemas.microsoft.com/office/drawing/2014/main" id="{F3B40AA2-CAFC-4662-B8CB-615568F0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278870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15">
            <a:extLst xmlns:a="http://schemas.openxmlformats.org/drawingml/2006/main">
              <a:ext uri="{FF2B5EF4-FFF2-40B4-BE49-F238E27FC236}">
                <a16:creationId xmlns:a16="http://schemas.microsoft.com/office/drawing/2014/main" id="{5B9A15C1-8B9B-4021-B2F3-9518A9D6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Demostrable hoy; producción tras cuatro cierres</a:t>
            </a:r>
          </a:p>
        </p:txBody>
      </p:sp>
      <p:cxnSp>
        <p:nvCxnSpPr>
          <p:cNvPr id="21" name="title-rule-15"/>
          <p:cNvCxnSpPr/>
          <p:nvPr/>
        </p:nvCxnSpPr>
        <p:spPr>
          <a:xfrm xmlns:a="http://schemas.openxmlformats.org/drawingml/2006/main">
            <a:off x="400050" y="1066800"/>
            <a:ext cx="113919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close-intro">
            <a:extLst xmlns:a="http://schemas.openxmlformats.org/drawingml/2006/main">
              <a:ext uri="{FF2B5EF4-FFF2-40B4-BE49-F238E27FC236}">
                <a16:creationId xmlns:a16="http://schemas.microsoft.com/office/drawing/2014/main" id="{7E1B077E-225B-48F3-8332-26501182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La decisión debe basarse en evidencia y reservas explícitas, no en una promesa general de que todo está listo.</a:t>
            </a:r>
          </a:p>
        </p:txBody>
      </p:sp>
      <p:sp>
        <p:nvSpPr>
          <p:cNvPr id="4" name="close-1">
            <a:extLst xmlns:a="http://schemas.openxmlformats.org/drawingml/2006/main">
              <a:ext uri="{FF2B5EF4-FFF2-40B4-BE49-F238E27FC236}">
                <a16:creationId xmlns:a16="http://schemas.microsoft.com/office/drawing/2014/main" id="{ED141907-75D9-4EAF-8DD9-16DF2CA7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5" name="close-1b">
            <a:extLst xmlns:a="http://schemas.openxmlformats.org/drawingml/2006/main">
              <a:ext uri="{FF2B5EF4-FFF2-40B4-BE49-F238E27FC236}">
                <a16:creationId xmlns:a16="http://schemas.microsoft.com/office/drawing/2014/main" id="{30A7C6BB-B47A-4764-AE4B-81DFE2B1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47900"/>
            <a:ext cx="5143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Reparar y ejecutar pruebas frontend</a:t>
            </a:r>
          </a:p>
        </p:txBody>
      </p:sp>
      <p:sp>
        <p:nvSpPr>
          <p:cNvPr id="6" name="close-2">
            <a:extLst xmlns:a="http://schemas.openxmlformats.org/drawingml/2006/main">
              <a:ext uri="{FF2B5EF4-FFF2-40B4-BE49-F238E27FC236}">
                <a16:creationId xmlns:a16="http://schemas.microsoft.com/office/drawing/2014/main" id="{E799E063-219D-4DA8-A80C-ADC2D9CE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7" name="close-2b">
            <a:extLst xmlns:a="http://schemas.openxmlformats.org/drawingml/2006/main">
              <a:ext uri="{FF2B5EF4-FFF2-40B4-BE49-F238E27FC236}">
                <a16:creationId xmlns:a16="http://schemas.microsoft.com/office/drawing/2014/main" id="{DAA01B7A-2C41-4FA9-8C00-602ED2D6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71800"/>
            <a:ext cx="5143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Ejecutar integraciones POS e inventario</a:t>
            </a:r>
          </a:p>
        </p:txBody>
      </p:sp>
      <p:sp>
        <p:nvSpPr>
          <p:cNvPr id="8" name="close-3">
            <a:extLst xmlns:a="http://schemas.openxmlformats.org/drawingml/2006/main">
              <a:ext uri="{FF2B5EF4-FFF2-40B4-BE49-F238E27FC236}">
                <a16:creationId xmlns:a16="http://schemas.microsoft.com/office/drawing/2014/main" id="{BFA8E021-5776-421E-AF2A-1D166252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9" name="close-3b">
            <a:extLst xmlns:a="http://schemas.openxmlformats.org/drawingml/2006/main">
              <a:ext uri="{FF2B5EF4-FFF2-40B4-BE49-F238E27FC236}">
                <a16:creationId xmlns:a16="http://schemas.microsoft.com/office/drawing/2014/main" id="{649D0093-6E33-4C92-B24C-A735B513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5143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Crear y restaurar un respaldo aislado</a:t>
            </a:r>
          </a:p>
        </p:txBody>
      </p:sp>
      <p:sp>
        <p:nvSpPr>
          <p:cNvPr id="10" name="close-4">
            <a:extLst xmlns:a="http://schemas.openxmlformats.org/drawingml/2006/main">
              <a:ext uri="{FF2B5EF4-FFF2-40B4-BE49-F238E27FC236}">
                <a16:creationId xmlns:a16="http://schemas.microsoft.com/office/drawing/2014/main" id="{507ABC9B-CE43-4102-9FB2-92A5E863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55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1" name="close-4b">
            <a:extLst xmlns:a="http://schemas.openxmlformats.org/drawingml/2006/main">
              <a:ext uri="{FF2B5EF4-FFF2-40B4-BE49-F238E27FC236}">
                <a16:creationId xmlns:a16="http://schemas.microsoft.com/office/drawing/2014/main" id="{218D2E58-22B4-48FC-ACC0-6BACDD29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5143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t>Validar ambiente, proveedores y marca final</a:t>
            </a:r>
          </a:p>
        </p:txBody>
      </p:sp>
      <p:sp>
        <p:nvSpPr>
          <p:cNvPr id="12" name="close-decision">
            <a:extLst xmlns:a="http://schemas.openxmlformats.org/drawingml/2006/main">
              <a:ext uri="{FF2B5EF4-FFF2-40B4-BE49-F238E27FC236}">
                <a16:creationId xmlns:a16="http://schemas.microsoft.com/office/drawing/2014/main" id="{FB904F8C-9308-4CB4-B22C-123DBA79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41719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205B3A"/>
          </a:solidFill>
          <a:ln xmlns:a="http://schemas.openxmlformats.org/drawingml/2006/main" w="9525">
            <a:solidFill>
              <a:srgbClr val="205B3A"/>
            </a:solidFill>
            <a:prstDash val="solid"/>
          </a:ln>
        </p:spPr>
      </p:sp>
      <p:sp>
        <p:nvSpPr>
          <p:cNvPr id="13" name="close-decision-kicker">
            <a:extLst xmlns:a="http://schemas.openxmlformats.org/drawingml/2006/main">
              <a:ext uri="{FF2B5EF4-FFF2-40B4-BE49-F238E27FC236}">
                <a16:creationId xmlns:a16="http://schemas.microsoft.com/office/drawing/2014/main" id="{49846F1C-7B59-497E-A3D8-BFF7AB4F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38400"/>
            <a:ext cx="3448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0A51B"/>
                </a:solidFill>
                <a:latin typeface="Arial"/>
                <a:ea typeface="Arial"/>
                <a:cs typeface="Arial"/>
              </a:defRPr>
            </a:pPr>
            <a:r>
              <a:t>DECISIÓN INFORMADA</a:t>
            </a:r>
          </a:p>
        </p:txBody>
      </p:sp>
      <p:sp>
        <p:nvSpPr>
          <p:cNvPr id="14" name="close-decision-title">
            <a:extLst xmlns:a="http://schemas.openxmlformats.org/drawingml/2006/main">
              <a:ext uri="{FF2B5EF4-FFF2-40B4-BE49-F238E27FC236}">
                <a16:creationId xmlns:a16="http://schemas.microsoft.com/office/drawing/2014/main" id="{7EB93BBD-97A5-4350-BE4A-6F9FFD69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34480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8629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Aceptar con reservas documentadas</a:t>
            </a:r>
          </a:p>
        </p:txBody>
      </p:sp>
      <p:sp>
        <p:nvSpPr>
          <p:cNvPr id="15" name="close-decision-body">
            <a:extLst xmlns:a="http://schemas.openxmlformats.org/drawingml/2006/main">
              <a:ext uri="{FF2B5EF4-FFF2-40B4-BE49-F238E27FC236}">
                <a16:creationId xmlns:a16="http://schemas.microsoft.com/office/drawing/2014/main" id="{F37A2113-A6C2-4A2F-8F02-7A641BC3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95750"/>
            <a:ext cx="3448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o reprogramar la firma hasta cerrar las brechas críticas</a:t>
            </a:r>
          </a:p>
        </p:txBody>
      </p:sp>
      <p:sp>
        <p:nvSpPr>
          <p:cNvPr id="16" name="close-demo">
            <a:extLst xmlns:a="http://schemas.openxmlformats.org/drawingml/2006/main">
              <a:ext uri="{FF2B5EF4-FFF2-40B4-BE49-F238E27FC236}">
                <a16:creationId xmlns:a16="http://schemas.microsoft.com/office/drawing/2014/main" id="{A26AF652-A55B-4B0C-9993-7EB19100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0"/>
          </a:solidFill>
          <a:ln xmlns:a="http://schemas.openxmlformats.org/drawingml/2006/main" w="9525">
            <a:solidFill>
              <a:srgbClr val="F1F2F0"/>
            </a:solidFill>
            <a:prstDash val="solid"/>
          </a:ln>
        </p:spPr>
      </p:sp>
      <p:sp>
        <p:nvSpPr>
          <p:cNvPr id="17" name="close-demo-text">
            <a:extLst xmlns:a="http://schemas.openxmlformats.org/drawingml/2006/main">
              <a:ext uri="{FF2B5EF4-FFF2-40B4-BE49-F238E27FC236}">
                <a16:creationId xmlns:a16="http://schemas.microsoft.com/office/drawing/2014/main" id="{271F6A46-1102-47B8-A352-92E3F077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5B3A"/>
                </a:solidFill>
                <a:latin typeface="Arial"/>
                <a:ea typeface="Arial"/>
                <a:cs typeface="Arial"/>
              </a:defRPr>
            </a:pPr>
            <a:r>
              <a:t>Demo: cliente → POS → inventario → administración → reportes → validaciones y errores</a:t>
            </a:r>
          </a:p>
        </p:txBody>
      </p:sp>
      <p:sp>
        <p:nvSpPr>
          <p:cNvPr id="18" name="revision-15">
            <a:extLst xmlns:a="http://schemas.openxmlformats.org/drawingml/2006/main">
              <a:ext uri="{FF2B5EF4-FFF2-40B4-BE49-F238E27FC236}">
                <a16:creationId xmlns:a16="http://schemas.microsoft.com/office/drawing/2014/main" id="{55F58028-8A85-4303-BF8B-4B29D4EB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b61259d · 16 jul 2026</a:t>
            </a:r>
          </a:p>
        </p:txBody>
      </p:sp>
      <p:sp>
        <p:nvSpPr>
          <p:cNvPr id="19" name="page-15">
            <a:extLst xmlns:a="http://schemas.openxmlformats.org/drawingml/2006/main">
              <a:ext uri="{FF2B5EF4-FFF2-40B4-BE49-F238E27FC236}">
                <a16:creationId xmlns:a16="http://schemas.microsoft.com/office/drawing/2014/main" id="{754F8B11-2CCB-4E63-ABC1-3BA5C6C2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929052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2026-07-16T20:42:40.2470000Z</dcterms:created>
  <dcterms:modified xsi:type="dcterms:W3CDTF">2026-07-16T20:42:40.2470000Z</dcterms:modified>
</coreProperties>
</file>